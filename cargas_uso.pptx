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419" r:id="rId2"/>
    <p:sldId id="426" r:id="rId3"/>
    <p:sldId id="427" r:id="rId4"/>
    <p:sldId id="458" r:id="rId5"/>
    <p:sldId id="450" r:id="rId6"/>
    <p:sldId id="453" r:id="rId7"/>
    <p:sldId id="451" r:id="rId8"/>
    <p:sldId id="454" r:id="rId9"/>
    <p:sldId id="455" r:id="rId10"/>
    <p:sldId id="457" r:id="rId11"/>
    <p:sldId id="456" r:id="rId12"/>
    <p:sldId id="446" r:id="rId13"/>
    <p:sldId id="447" r:id="rId14"/>
    <p:sldId id="459" r:id="rId15"/>
    <p:sldId id="428" r:id="rId16"/>
    <p:sldId id="429" r:id="rId17"/>
    <p:sldId id="463" r:id="rId18"/>
    <p:sldId id="460" r:id="rId19"/>
    <p:sldId id="461" r:id="rId20"/>
    <p:sldId id="448" r:id="rId21"/>
    <p:sldId id="462" r:id="rId22"/>
    <p:sldId id="464" r:id="rId23"/>
    <p:sldId id="430" r:id="rId24"/>
    <p:sldId id="431" r:id="rId25"/>
    <p:sldId id="44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3886" autoAdjust="0"/>
  </p:normalViewPr>
  <p:slideViewPr>
    <p:cSldViewPr snapToGrid="0">
      <p:cViewPr varScale="1">
        <p:scale>
          <a:sx n="61" d="100"/>
          <a:sy n="61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21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1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2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8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34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5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92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0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8126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05578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72329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049222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4398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36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9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85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0.png"/><Relationship Id="rId7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7.pn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BE86EA4-C4F1-4465-B306-7A2BC228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8279268-DB29-43BE-B57C-14977EAC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8FA53C0-C1EF-4611-BAB3-65EEB16AA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ctangle 23">
              <a:extLst>
                <a:ext uri="{FF2B5EF4-FFF2-40B4-BE49-F238E27FC236}">
                  <a16:creationId xmlns:a16="http://schemas.microsoft.com/office/drawing/2014/main" id="{81CDACFC-DD8A-4CC0-B7FC-6030FC353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0269F267-73D4-4CC3-BEC7-73335654D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24" name="Isosceles Triangle 123">
              <a:extLst>
                <a:ext uri="{FF2B5EF4-FFF2-40B4-BE49-F238E27FC236}">
                  <a16:creationId xmlns:a16="http://schemas.microsoft.com/office/drawing/2014/main" id="{DC48F13D-B2D7-4EB8-9CA7-59243637C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25" name="Rectangle 27">
              <a:extLst>
                <a:ext uri="{FF2B5EF4-FFF2-40B4-BE49-F238E27FC236}">
                  <a16:creationId xmlns:a16="http://schemas.microsoft.com/office/drawing/2014/main" id="{A82405B3-5A67-4DA2-8EDA-7AB65A8B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26" name="Rectangle 28">
              <a:extLst>
                <a:ext uri="{FF2B5EF4-FFF2-40B4-BE49-F238E27FC236}">
                  <a16:creationId xmlns:a16="http://schemas.microsoft.com/office/drawing/2014/main" id="{7508BC7B-3BD2-4D96-A46E-82988222A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27" name="Rectangle 29">
              <a:extLst>
                <a:ext uri="{FF2B5EF4-FFF2-40B4-BE49-F238E27FC236}">
                  <a16:creationId xmlns:a16="http://schemas.microsoft.com/office/drawing/2014/main" id="{4298D07C-2287-4B93-9041-935144DE1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28" name="Isosceles Triangle 127">
              <a:extLst>
                <a:ext uri="{FF2B5EF4-FFF2-40B4-BE49-F238E27FC236}">
                  <a16:creationId xmlns:a16="http://schemas.microsoft.com/office/drawing/2014/main" id="{0F6BC886-C125-4903-8C2A-6FB687400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C9D0B38F-2E02-4E85-99EE-73595E7C8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12192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37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39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40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41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42" name="Isosceles Triangle 141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4B683621-650B-485A-B286-8DA9367BEE2F}"/>
              </a:ext>
            </a:extLst>
          </p:cNvPr>
          <p:cNvSpPr txBox="1"/>
          <p:nvPr/>
        </p:nvSpPr>
        <p:spPr>
          <a:xfrm>
            <a:off x="765110" y="4758611"/>
            <a:ext cx="8508893" cy="102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REFORZAMIENTO Y REHABILITACION DE ESTRUCTURAS</a:t>
            </a:r>
          </a:p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EN HORMIGON ARMADO Y ACERO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Un hombre con traje y corbata&#10;&#10;El contenido generado por IA puede ser incorrecto.">
            <a:extLst>
              <a:ext uri="{FF2B5EF4-FFF2-40B4-BE49-F238E27FC236}">
                <a16:creationId xmlns:a16="http://schemas.microsoft.com/office/drawing/2014/main" id="{3B8AF6BF-EB6F-87DE-81A5-8437A14D8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392" y="5181043"/>
            <a:ext cx="2748413" cy="1669660"/>
          </a:xfrm>
          <a:prstGeom prst="rect">
            <a:avLst/>
          </a:prstGeo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1951E8F-51FF-4226-B6F2-E770C3D6EDB8}"/>
              </a:ext>
            </a:extLst>
          </p:cNvPr>
          <p:cNvCxnSpPr>
            <a:cxnSpLocks/>
          </p:cNvCxnSpPr>
          <p:nvPr/>
        </p:nvCxnSpPr>
        <p:spPr>
          <a:xfrm>
            <a:off x="9303912" y="389278"/>
            <a:ext cx="18838" cy="2956791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E6BEDA7-AED7-4A7A-B94F-669E4CDDB5B0}"/>
              </a:ext>
            </a:extLst>
          </p:cNvPr>
          <p:cNvCxnSpPr>
            <a:cxnSpLocks/>
          </p:cNvCxnSpPr>
          <p:nvPr/>
        </p:nvCxnSpPr>
        <p:spPr>
          <a:xfrm>
            <a:off x="9319152" y="401838"/>
            <a:ext cx="2390677" cy="14633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D13F2FE-3AF7-45C8-8B66-8636479637AD}"/>
              </a:ext>
            </a:extLst>
          </p:cNvPr>
          <p:cNvSpPr txBox="1"/>
          <p:nvPr/>
        </p:nvSpPr>
        <p:spPr>
          <a:xfrm>
            <a:off x="8403075" y="283001"/>
            <a:ext cx="696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NIVEL 4</a:t>
            </a:r>
            <a:endParaRPr lang="es-EC" sz="12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1408E8F-1277-481B-B65F-06B10F1562CE}"/>
              </a:ext>
            </a:extLst>
          </p:cNvPr>
          <p:cNvSpPr txBox="1"/>
          <p:nvPr/>
        </p:nvSpPr>
        <p:spPr>
          <a:xfrm>
            <a:off x="8432952" y="902833"/>
            <a:ext cx="696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NIVEL 3</a:t>
            </a:r>
            <a:endParaRPr lang="es-EC" sz="12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3E91026-7D03-44AB-90E6-83BA73C2B29F}"/>
              </a:ext>
            </a:extLst>
          </p:cNvPr>
          <p:cNvSpPr txBox="1"/>
          <p:nvPr/>
        </p:nvSpPr>
        <p:spPr>
          <a:xfrm>
            <a:off x="8408193" y="1697739"/>
            <a:ext cx="696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NIVEL 2</a:t>
            </a:r>
            <a:endParaRPr lang="es-EC" sz="12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22DBEFC-5DA4-43BC-AFBB-B10AAC791E55}"/>
              </a:ext>
            </a:extLst>
          </p:cNvPr>
          <p:cNvSpPr txBox="1"/>
          <p:nvPr/>
        </p:nvSpPr>
        <p:spPr>
          <a:xfrm>
            <a:off x="8441588" y="2411088"/>
            <a:ext cx="696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NIVEL 1</a:t>
            </a:r>
            <a:endParaRPr lang="es-EC" sz="12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2FD5964-1198-4EF4-A0DA-9D5729050724}"/>
              </a:ext>
            </a:extLst>
          </p:cNvPr>
          <p:cNvSpPr txBox="1"/>
          <p:nvPr/>
        </p:nvSpPr>
        <p:spPr>
          <a:xfrm>
            <a:off x="10854045" y="1317007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VIVIENDA</a:t>
            </a:r>
            <a:endParaRPr lang="es-EC" sz="12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E0BDFDB-A328-4F02-8366-7DD6597583F3}"/>
              </a:ext>
            </a:extLst>
          </p:cNvPr>
          <p:cNvSpPr txBox="1"/>
          <p:nvPr/>
        </p:nvSpPr>
        <p:spPr>
          <a:xfrm>
            <a:off x="10885271" y="640822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VIVIENDA</a:t>
            </a:r>
            <a:endParaRPr lang="es-EC" sz="12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7BCDE23-40BC-4A61-B63C-B883FB7901C5}"/>
              </a:ext>
            </a:extLst>
          </p:cNvPr>
          <p:cNvSpPr txBox="1"/>
          <p:nvPr/>
        </p:nvSpPr>
        <p:spPr>
          <a:xfrm>
            <a:off x="10908277" y="2106406"/>
            <a:ext cx="74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BODEGA</a:t>
            </a:r>
            <a:endParaRPr lang="es-EC" sz="1200" dirty="0"/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763CBE4C-DFD9-497E-BE03-32360CA0A049}"/>
              </a:ext>
            </a:extLst>
          </p:cNvPr>
          <p:cNvCxnSpPr>
            <a:cxnSpLocks/>
          </p:cNvCxnSpPr>
          <p:nvPr/>
        </p:nvCxnSpPr>
        <p:spPr>
          <a:xfrm>
            <a:off x="10075708" y="401837"/>
            <a:ext cx="0" cy="2944232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BE8A704A-EB63-47CF-A88C-AF38474B81BB}"/>
              </a:ext>
            </a:extLst>
          </p:cNvPr>
          <p:cNvCxnSpPr>
            <a:cxnSpLocks/>
          </p:cNvCxnSpPr>
          <p:nvPr/>
        </p:nvCxnSpPr>
        <p:spPr>
          <a:xfrm>
            <a:off x="10854045" y="418464"/>
            <a:ext cx="0" cy="2927605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214A60A8-7991-49B7-853D-61872E9992AB}"/>
              </a:ext>
            </a:extLst>
          </p:cNvPr>
          <p:cNvCxnSpPr>
            <a:cxnSpLocks/>
          </p:cNvCxnSpPr>
          <p:nvPr/>
        </p:nvCxnSpPr>
        <p:spPr>
          <a:xfrm>
            <a:off x="9300315" y="1092657"/>
            <a:ext cx="2409514" cy="18477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69151357-337C-47E7-A4B8-C63329C47BFA}"/>
              </a:ext>
            </a:extLst>
          </p:cNvPr>
          <p:cNvCxnSpPr>
            <a:cxnSpLocks/>
          </p:cNvCxnSpPr>
          <p:nvPr/>
        </p:nvCxnSpPr>
        <p:spPr>
          <a:xfrm flipV="1">
            <a:off x="9312525" y="1785327"/>
            <a:ext cx="2397304" cy="7655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F2FA9D3E-EBBC-4989-849F-A5C54CD92B45}"/>
              </a:ext>
            </a:extLst>
          </p:cNvPr>
          <p:cNvCxnSpPr>
            <a:cxnSpLocks/>
          </p:cNvCxnSpPr>
          <p:nvPr/>
        </p:nvCxnSpPr>
        <p:spPr>
          <a:xfrm flipV="1">
            <a:off x="9337990" y="2521904"/>
            <a:ext cx="2371839" cy="27684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5672B389-15D1-4E7F-8D40-EEDF83BA43AD}"/>
              </a:ext>
            </a:extLst>
          </p:cNvPr>
          <p:cNvCxnSpPr>
            <a:cxnSpLocks/>
          </p:cNvCxnSpPr>
          <p:nvPr/>
        </p:nvCxnSpPr>
        <p:spPr>
          <a:xfrm>
            <a:off x="11709829" y="416471"/>
            <a:ext cx="0" cy="2929598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FD62CF1-31FB-4C9E-9A7E-FE034F8F7612}"/>
              </a:ext>
            </a:extLst>
          </p:cNvPr>
          <p:cNvCxnSpPr>
            <a:cxnSpLocks/>
          </p:cNvCxnSpPr>
          <p:nvPr/>
        </p:nvCxnSpPr>
        <p:spPr>
          <a:xfrm>
            <a:off x="9108776" y="3359243"/>
            <a:ext cx="383077" cy="1256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D7C2A1D-CF13-4ED2-BB45-BBAEA4C7D280}"/>
              </a:ext>
            </a:extLst>
          </p:cNvPr>
          <p:cNvCxnSpPr>
            <a:cxnSpLocks/>
          </p:cNvCxnSpPr>
          <p:nvPr/>
        </p:nvCxnSpPr>
        <p:spPr>
          <a:xfrm>
            <a:off x="9887112" y="3365523"/>
            <a:ext cx="383077" cy="1256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8931F6D-E92D-48DA-AFDE-A7B906D2E313}"/>
              </a:ext>
            </a:extLst>
          </p:cNvPr>
          <p:cNvCxnSpPr>
            <a:cxnSpLocks/>
          </p:cNvCxnSpPr>
          <p:nvPr/>
        </p:nvCxnSpPr>
        <p:spPr>
          <a:xfrm>
            <a:off x="10636501" y="3352963"/>
            <a:ext cx="383077" cy="1256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7DE75451-C4AA-4B53-8AEE-7B3B3C894F6D}"/>
              </a:ext>
            </a:extLst>
          </p:cNvPr>
          <p:cNvCxnSpPr>
            <a:cxnSpLocks/>
          </p:cNvCxnSpPr>
          <p:nvPr/>
        </p:nvCxnSpPr>
        <p:spPr>
          <a:xfrm>
            <a:off x="11509981" y="3365523"/>
            <a:ext cx="383077" cy="1256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DF706BF6-1E3D-BC9A-8CE4-1430D64D8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05" y="432893"/>
            <a:ext cx="3864452" cy="19505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0DA8486-0077-EB3D-CC7A-743F89069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62" y="2535746"/>
            <a:ext cx="6981511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31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31D1044-9C2F-4BB5-8777-6A314FA9A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599856"/>
              </p:ext>
            </p:extLst>
          </p:nvPr>
        </p:nvGraphicFramePr>
        <p:xfrm>
          <a:off x="2387292" y="861775"/>
          <a:ext cx="9804708" cy="58228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8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8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0695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703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703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0703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84C1691C-B20F-4A3F-83F5-B82F6DA4809C}"/>
              </a:ext>
            </a:extLst>
          </p:cNvPr>
          <p:cNvSpPr txBox="1"/>
          <p:nvPr/>
        </p:nvSpPr>
        <p:spPr>
          <a:xfrm>
            <a:off x="3384634" y="185454"/>
            <a:ext cx="1306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Lv</a:t>
            </a:r>
            <a:r>
              <a:rPr lang="es-ES" sz="2000" dirty="0"/>
              <a:t>=6,00m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B7DBB89-BF3F-437A-96B3-C624A97F35C9}"/>
              </a:ext>
            </a:extLst>
          </p:cNvPr>
          <p:cNvSpPr txBox="1"/>
          <p:nvPr/>
        </p:nvSpPr>
        <p:spPr>
          <a:xfrm>
            <a:off x="627047" y="1336289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Lt1</a:t>
            </a:r>
            <a:r>
              <a:rPr lang="es-ES" sz="2000" dirty="0"/>
              <a:t>=4,80m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2A9FFE-E487-4E56-AA34-57457892BDE0}"/>
              </a:ext>
            </a:extLst>
          </p:cNvPr>
          <p:cNvSpPr txBox="1"/>
          <p:nvPr/>
        </p:nvSpPr>
        <p:spPr>
          <a:xfrm>
            <a:off x="613928" y="2711452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Lt2</a:t>
            </a:r>
            <a:r>
              <a:rPr lang="es-ES" sz="2000" dirty="0"/>
              <a:t>=5,50m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10CFCDC-7E13-43F6-9975-91432B1F649D}"/>
              </a:ext>
            </a:extLst>
          </p:cNvPr>
          <p:cNvSpPr txBox="1"/>
          <p:nvPr/>
        </p:nvSpPr>
        <p:spPr>
          <a:xfrm>
            <a:off x="3534536" y="1774283"/>
            <a:ext cx="681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Viga</a:t>
            </a:r>
            <a:r>
              <a:rPr lang="es-ES" dirty="0"/>
              <a:t>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AB26D0-8944-4F36-B817-B86DB04B4B5C}"/>
              </a:ext>
            </a:extLst>
          </p:cNvPr>
          <p:cNvSpPr txBox="1"/>
          <p:nvPr/>
        </p:nvSpPr>
        <p:spPr>
          <a:xfrm>
            <a:off x="6636262" y="185454"/>
            <a:ext cx="1306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Lv</a:t>
            </a:r>
            <a:r>
              <a:rPr lang="es-ES" sz="2000" dirty="0"/>
              <a:t>=5,50m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376463B-F453-4768-BD02-DA93450CD098}"/>
              </a:ext>
            </a:extLst>
          </p:cNvPr>
          <p:cNvSpPr txBox="1"/>
          <p:nvPr/>
        </p:nvSpPr>
        <p:spPr>
          <a:xfrm>
            <a:off x="10162598" y="249927"/>
            <a:ext cx="1306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Lv</a:t>
            </a:r>
            <a:r>
              <a:rPr lang="es-ES" sz="2000" dirty="0"/>
              <a:t>=6,30m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72DFFB7-BCC7-4A74-BB39-C3D5D8AE6CF8}"/>
              </a:ext>
            </a:extLst>
          </p:cNvPr>
          <p:cNvSpPr txBox="1"/>
          <p:nvPr/>
        </p:nvSpPr>
        <p:spPr>
          <a:xfrm>
            <a:off x="504239" y="4143678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Lt2</a:t>
            </a:r>
            <a:r>
              <a:rPr lang="es-ES" sz="2000" dirty="0"/>
              <a:t>=5,00m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A21FC36-4136-4A01-98D6-97DE0AE83887}"/>
              </a:ext>
            </a:extLst>
          </p:cNvPr>
          <p:cNvSpPr txBox="1"/>
          <p:nvPr/>
        </p:nvSpPr>
        <p:spPr>
          <a:xfrm>
            <a:off x="405226" y="5763524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Lt2</a:t>
            </a:r>
            <a:r>
              <a:rPr lang="es-ES" sz="2000" dirty="0"/>
              <a:t>=6,10m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3D5837B-83BA-48A0-38ED-59A7E58E6AD3}"/>
              </a:ext>
            </a:extLst>
          </p:cNvPr>
          <p:cNvSpPr txBox="1"/>
          <p:nvPr/>
        </p:nvSpPr>
        <p:spPr>
          <a:xfrm>
            <a:off x="5755168" y="1676779"/>
            <a:ext cx="681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Viga</a:t>
            </a:r>
            <a:r>
              <a:rPr lang="es-ES" dirty="0"/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A5E71A2-EF96-2786-62B4-788859C63BDC}"/>
              </a:ext>
            </a:extLst>
          </p:cNvPr>
          <p:cNvSpPr txBox="1"/>
          <p:nvPr/>
        </p:nvSpPr>
        <p:spPr>
          <a:xfrm>
            <a:off x="7892234" y="1677891"/>
            <a:ext cx="681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Viga</a:t>
            </a:r>
            <a:r>
              <a:rPr lang="es-ES" dirty="0"/>
              <a:t> </a:t>
            </a:r>
          </a:p>
        </p:txBody>
      </p:sp>
      <p:sp>
        <p:nvSpPr>
          <p:cNvPr id="14" name="Cubo 13">
            <a:extLst>
              <a:ext uri="{FF2B5EF4-FFF2-40B4-BE49-F238E27FC236}">
                <a16:creationId xmlns:a16="http://schemas.microsoft.com/office/drawing/2014/main" id="{E74A223F-D726-0B67-942C-4409D10A13CA}"/>
              </a:ext>
            </a:extLst>
          </p:cNvPr>
          <p:cNvSpPr/>
          <p:nvPr/>
        </p:nvSpPr>
        <p:spPr>
          <a:xfrm>
            <a:off x="5690989" y="2174611"/>
            <a:ext cx="3288016" cy="206797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5" name="Cubo 14">
            <a:extLst>
              <a:ext uri="{FF2B5EF4-FFF2-40B4-BE49-F238E27FC236}">
                <a16:creationId xmlns:a16="http://schemas.microsoft.com/office/drawing/2014/main" id="{FCA46A6E-A550-A272-3EBE-45BF2605EF02}"/>
              </a:ext>
            </a:extLst>
          </p:cNvPr>
          <p:cNvSpPr/>
          <p:nvPr/>
        </p:nvSpPr>
        <p:spPr>
          <a:xfrm>
            <a:off x="2394011" y="2174393"/>
            <a:ext cx="3288015" cy="206797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6" name="Cubo 15">
            <a:extLst>
              <a:ext uri="{FF2B5EF4-FFF2-40B4-BE49-F238E27FC236}">
                <a16:creationId xmlns:a16="http://schemas.microsoft.com/office/drawing/2014/main" id="{EC3F5AA7-9B0F-F96F-715E-F3757D79313B}"/>
              </a:ext>
            </a:extLst>
          </p:cNvPr>
          <p:cNvSpPr/>
          <p:nvPr/>
        </p:nvSpPr>
        <p:spPr>
          <a:xfrm>
            <a:off x="8903985" y="2174394"/>
            <a:ext cx="3288016" cy="207014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7" name="Cubo 16">
            <a:extLst>
              <a:ext uri="{FF2B5EF4-FFF2-40B4-BE49-F238E27FC236}">
                <a16:creationId xmlns:a16="http://schemas.microsoft.com/office/drawing/2014/main" id="{5EAFDC9B-7807-5B4C-65DC-903984AB7F72}"/>
              </a:ext>
            </a:extLst>
          </p:cNvPr>
          <p:cNvSpPr/>
          <p:nvPr/>
        </p:nvSpPr>
        <p:spPr>
          <a:xfrm rot="16200000">
            <a:off x="1602698" y="1521659"/>
            <a:ext cx="1542781" cy="176280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9" name="Cubo 18">
            <a:extLst>
              <a:ext uri="{FF2B5EF4-FFF2-40B4-BE49-F238E27FC236}">
                <a16:creationId xmlns:a16="http://schemas.microsoft.com/office/drawing/2014/main" id="{E16174F7-0AA4-CAAB-3F2C-2892638DE550}"/>
              </a:ext>
            </a:extLst>
          </p:cNvPr>
          <p:cNvSpPr/>
          <p:nvPr/>
        </p:nvSpPr>
        <p:spPr>
          <a:xfrm rot="16200000">
            <a:off x="1608941" y="2857643"/>
            <a:ext cx="1542781" cy="176280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0" name="Cubo 19">
            <a:extLst>
              <a:ext uri="{FF2B5EF4-FFF2-40B4-BE49-F238E27FC236}">
                <a16:creationId xmlns:a16="http://schemas.microsoft.com/office/drawing/2014/main" id="{B7D63B75-5BA7-70D0-0CB9-64D9304E9EC8}"/>
              </a:ext>
            </a:extLst>
          </p:cNvPr>
          <p:cNvSpPr/>
          <p:nvPr/>
        </p:nvSpPr>
        <p:spPr>
          <a:xfrm rot="16200000">
            <a:off x="1595983" y="4341345"/>
            <a:ext cx="1542781" cy="176280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1" name="Cubo 20">
            <a:extLst>
              <a:ext uri="{FF2B5EF4-FFF2-40B4-BE49-F238E27FC236}">
                <a16:creationId xmlns:a16="http://schemas.microsoft.com/office/drawing/2014/main" id="{A752AF43-1F6C-378F-CFBF-F7D09EE2F123}"/>
              </a:ext>
            </a:extLst>
          </p:cNvPr>
          <p:cNvSpPr/>
          <p:nvPr/>
        </p:nvSpPr>
        <p:spPr>
          <a:xfrm rot="16200000">
            <a:off x="1598790" y="5825048"/>
            <a:ext cx="1542781" cy="176280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pic>
        <p:nvPicPr>
          <p:cNvPr id="22" name="Picture 5">
            <a:extLst>
              <a:ext uri="{FF2B5EF4-FFF2-40B4-BE49-F238E27FC236}">
                <a16:creationId xmlns:a16="http://schemas.microsoft.com/office/drawing/2014/main" id="{B46A0F94-E8B4-9846-89C0-F52570BD0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57368" y="1531568"/>
            <a:ext cx="1258614" cy="1624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23" name="Picture 5">
            <a:extLst>
              <a:ext uri="{FF2B5EF4-FFF2-40B4-BE49-F238E27FC236}">
                <a16:creationId xmlns:a16="http://schemas.microsoft.com/office/drawing/2014/main" id="{87D8F637-EC6F-4EB8-664C-AB10B5CD4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29014" y="5233207"/>
            <a:ext cx="1258614" cy="1624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6CF1030-4295-6CC1-EAC2-F4A5953B9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2567" y="5628290"/>
            <a:ext cx="1779434" cy="107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39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lipse 14">
            <a:extLst>
              <a:ext uri="{FF2B5EF4-FFF2-40B4-BE49-F238E27FC236}">
                <a16:creationId xmlns:a16="http://schemas.microsoft.com/office/drawing/2014/main" id="{7B977DC2-21C2-D9EE-3C5D-2608CC8647F7}"/>
              </a:ext>
            </a:extLst>
          </p:cNvPr>
          <p:cNvSpPr/>
          <p:nvPr/>
        </p:nvSpPr>
        <p:spPr>
          <a:xfrm>
            <a:off x="2827433" y="2837790"/>
            <a:ext cx="5323339" cy="1797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9ED4E8-3F50-4F6D-9697-5349536CD85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729" y="256318"/>
            <a:ext cx="1089191" cy="1234181"/>
          </a:xfrm>
          <a:prstGeom prst="rect">
            <a:avLst/>
          </a:prstGeom>
          <a:noFill/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1958882-8A7D-4494-92F9-43973D57FBC6}"/>
              </a:ext>
            </a:extLst>
          </p:cNvPr>
          <p:cNvSpPr txBox="1"/>
          <p:nvPr/>
        </p:nvSpPr>
        <p:spPr>
          <a:xfrm>
            <a:off x="1195588" y="162465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A9AB151-4299-4BAF-BB8F-F6AC03657E26}"/>
              </a:ext>
            </a:extLst>
          </p:cNvPr>
          <p:cNvSpPr txBox="1"/>
          <p:nvPr/>
        </p:nvSpPr>
        <p:spPr>
          <a:xfrm>
            <a:off x="4080562" y="240105"/>
            <a:ext cx="55098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ESPESOR DE LA LOSA - NEC</a:t>
            </a:r>
          </a:p>
          <a:p>
            <a:pPr algn="ctr"/>
            <a:r>
              <a:rPr lang="es-ES" sz="2800" b="1" dirty="0"/>
              <a:t>ANÁLISIS POR DEFECTO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36A652A-2A38-CE90-94F4-EB5C024ED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10" y="89404"/>
            <a:ext cx="2684620" cy="1628870"/>
          </a:xfrm>
          <a:prstGeom prst="rect">
            <a:avLst/>
          </a:prstGeom>
        </p:spPr>
      </p:pic>
      <p:sp>
        <p:nvSpPr>
          <p:cNvPr id="13" name="Cubo 12">
            <a:extLst>
              <a:ext uri="{FF2B5EF4-FFF2-40B4-BE49-F238E27FC236}">
                <a16:creationId xmlns:a16="http://schemas.microsoft.com/office/drawing/2014/main" id="{82785A54-BFA5-4EE4-A151-4A149A66EE26}"/>
              </a:ext>
            </a:extLst>
          </p:cNvPr>
          <p:cNvSpPr/>
          <p:nvPr/>
        </p:nvSpPr>
        <p:spPr>
          <a:xfrm>
            <a:off x="2827433" y="1809323"/>
            <a:ext cx="6889775" cy="2011133"/>
          </a:xfrm>
          <a:prstGeom prst="cube">
            <a:avLst>
              <a:gd name="adj" fmla="val 77522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E58041A-E90E-A2FD-3A57-40B467A69F58}"/>
              </a:ext>
            </a:extLst>
          </p:cNvPr>
          <p:cNvSpPr txBox="1"/>
          <p:nvPr/>
        </p:nvSpPr>
        <p:spPr>
          <a:xfrm>
            <a:off x="3168869" y="2814889"/>
            <a:ext cx="53233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Losa Maciza se va a tratar de deformarse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5A0480F-7241-135E-E499-C6B1FDCD204A}"/>
              </a:ext>
            </a:extLst>
          </p:cNvPr>
          <p:cNvCxnSpPr/>
          <p:nvPr/>
        </p:nvCxnSpPr>
        <p:spPr>
          <a:xfrm>
            <a:off x="5546909" y="1184449"/>
            <a:ext cx="0" cy="1334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7173E96-6194-6E33-C4A6-CFEC763A308F}"/>
              </a:ext>
            </a:extLst>
          </p:cNvPr>
          <p:cNvCxnSpPr/>
          <p:nvPr/>
        </p:nvCxnSpPr>
        <p:spPr>
          <a:xfrm>
            <a:off x="6096000" y="1133848"/>
            <a:ext cx="0" cy="1334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27BD3FBA-F4E3-AD54-6566-B4066FE715E0}"/>
              </a:ext>
            </a:extLst>
          </p:cNvPr>
          <p:cNvCxnSpPr/>
          <p:nvPr/>
        </p:nvCxnSpPr>
        <p:spPr>
          <a:xfrm>
            <a:off x="7993117" y="1068276"/>
            <a:ext cx="0" cy="1334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E64F1C0-BDA1-D680-F1B0-90AE536FDDCD}"/>
              </a:ext>
            </a:extLst>
          </p:cNvPr>
          <p:cNvCxnSpPr/>
          <p:nvPr/>
        </p:nvCxnSpPr>
        <p:spPr>
          <a:xfrm>
            <a:off x="6695089" y="1142080"/>
            <a:ext cx="0" cy="1334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0CF0D4A-F7A1-1CB6-53B1-97931469F058}"/>
              </a:ext>
            </a:extLst>
          </p:cNvPr>
          <p:cNvCxnSpPr/>
          <p:nvPr/>
        </p:nvCxnSpPr>
        <p:spPr>
          <a:xfrm>
            <a:off x="4884607" y="1142080"/>
            <a:ext cx="0" cy="1334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8882E92-923C-6A7E-838E-169C725E5132}"/>
              </a:ext>
            </a:extLst>
          </p:cNvPr>
          <p:cNvCxnSpPr/>
          <p:nvPr/>
        </p:nvCxnSpPr>
        <p:spPr>
          <a:xfrm>
            <a:off x="7346732" y="1133848"/>
            <a:ext cx="0" cy="1334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0036D7F-1B44-0D20-A008-FDEBA2B63DC3}"/>
              </a:ext>
            </a:extLst>
          </p:cNvPr>
          <p:cNvSpPr txBox="1"/>
          <p:nvPr/>
        </p:nvSpPr>
        <p:spPr>
          <a:xfrm>
            <a:off x="5096533" y="3783306"/>
            <a:ext cx="785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C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461438B-5FFD-8BDF-CCA6-89523A09037A}"/>
              </a:ext>
            </a:extLst>
          </p:cNvPr>
          <p:cNvSpPr txBox="1"/>
          <p:nvPr/>
        </p:nvSpPr>
        <p:spPr>
          <a:xfrm>
            <a:off x="5096533" y="4234321"/>
            <a:ext cx="785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T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08C82D8-5BBF-52C4-9100-A90062339705}"/>
              </a:ext>
            </a:extLst>
          </p:cNvPr>
          <p:cNvSpPr txBox="1"/>
          <p:nvPr/>
        </p:nvSpPr>
        <p:spPr>
          <a:xfrm>
            <a:off x="1560920" y="4680149"/>
            <a:ext cx="8496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El Hormigón es bueno trabajando a compresión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B3B9DF0-EF5B-070C-AEA4-7302AA524444}"/>
              </a:ext>
            </a:extLst>
          </p:cNvPr>
          <p:cNvSpPr txBox="1"/>
          <p:nvPr/>
        </p:nvSpPr>
        <p:spPr>
          <a:xfrm>
            <a:off x="0" y="6131647"/>
            <a:ext cx="12037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Control de deflexiones (cuando se pandea falta inercia esta es una patología)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099FAB3-565D-62CF-91B4-8C209CEBECE1}"/>
              </a:ext>
            </a:extLst>
          </p:cNvPr>
          <p:cNvSpPr txBox="1"/>
          <p:nvPr/>
        </p:nvSpPr>
        <p:spPr>
          <a:xfrm>
            <a:off x="1433154" y="5238142"/>
            <a:ext cx="8496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El Hormigón es malo trabajando a tensión</a:t>
            </a:r>
          </a:p>
        </p:txBody>
      </p:sp>
    </p:spTree>
    <p:extLst>
      <p:ext uri="{BB962C8B-B14F-4D97-AF65-F5344CB8AC3E}">
        <p14:creationId xmlns:p14="http://schemas.microsoft.com/office/powerpoint/2010/main" val="142290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1398-6771-178C-1B8B-D9D2FAF6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lipse 14">
            <a:extLst>
              <a:ext uri="{FF2B5EF4-FFF2-40B4-BE49-F238E27FC236}">
                <a16:creationId xmlns:a16="http://schemas.microsoft.com/office/drawing/2014/main" id="{F864787C-4409-34D7-812A-72C467489A0C}"/>
              </a:ext>
            </a:extLst>
          </p:cNvPr>
          <p:cNvSpPr/>
          <p:nvPr/>
        </p:nvSpPr>
        <p:spPr>
          <a:xfrm>
            <a:off x="5797392" y="3028227"/>
            <a:ext cx="2724757" cy="725217"/>
          </a:xfrm>
          <a:prstGeom prst="ellipse">
            <a:avLst/>
          </a:prstGeom>
          <a:solidFill>
            <a:schemeClr val="accent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7458D6-F37C-41CE-700F-D8F336B1E03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729" y="256318"/>
            <a:ext cx="1089191" cy="1234181"/>
          </a:xfrm>
          <a:prstGeom prst="rect">
            <a:avLst/>
          </a:prstGeom>
          <a:noFill/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BB08801-2C2E-B437-077E-E3B274248679}"/>
              </a:ext>
            </a:extLst>
          </p:cNvPr>
          <p:cNvSpPr txBox="1"/>
          <p:nvPr/>
        </p:nvSpPr>
        <p:spPr>
          <a:xfrm>
            <a:off x="1195588" y="1624657"/>
            <a:ext cx="11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F139904-0D9E-F9C5-DEB7-8E2C7884F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60" y="77078"/>
            <a:ext cx="1309144" cy="794312"/>
          </a:xfrm>
          <a:prstGeom prst="rect">
            <a:avLst/>
          </a:prstGeom>
        </p:spPr>
      </p:pic>
      <p:sp>
        <p:nvSpPr>
          <p:cNvPr id="13" name="Cubo 12">
            <a:extLst>
              <a:ext uri="{FF2B5EF4-FFF2-40B4-BE49-F238E27FC236}">
                <a16:creationId xmlns:a16="http://schemas.microsoft.com/office/drawing/2014/main" id="{DCEC14F2-E678-82EC-766C-1A5A4ACE4883}"/>
              </a:ext>
            </a:extLst>
          </p:cNvPr>
          <p:cNvSpPr/>
          <p:nvPr/>
        </p:nvSpPr>
        <p:spPr>
          <a:xfrm>
            <a:off x="5822882" y="2617488"/>
            <a:ext cx="3359771" cy="811512"/>
          </a:xfrm>
          <a:prstGeom prst="cube">
            <a:avLst>
              <a:gd name="adj" fmla="val 77522"/>
            </a:avLst>
          </a:prstGeom>
          <a:solidFill>
            <a:schemeClr val="accent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234EF51-F9B1-2632-C028-19C82D9890C8}"/>
              </a:ext>
            </a:extLst>
          </p:cNvPr>
          <p:cNvCxnSpPr>
            <a:cxnSpLocks/>
          </p:cNvCxnSpPr>
          <p:nvPr/>
        </p:nvCxnSpPr>
        <p:spPr>
          <a:xfrm>
            <a:off x="7112472" y="2298663"/>
            <a:ext cx="0" cy="53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7245B74-088F-4D13-7291-73DCCF5498C9}"/>
              </a:ext>
            </a:extLst>
          </p:cNvPr>
          <p:cNvCxnSpPr>
            <a:cxnSpLocks/>
          </p:cNvCxnSpPr>
          <p:nvPr/>
        </p:nvCxnSpPr>
        <p:spPr>
          <a:xfrm>
            <a:off x="7502767" y="2304831"/>
            <a:ext cx="0" cy="53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DA25AD4-F20E-4468-922E-989DCEF01033}"/>
              </a:ext>
            </a:extLst>
          </p:cNvPr>
          <p:cNvCxnSpPr>
            <a:cxnSpLocks/>
          </p:cNvCxnSpPr>
          <p:nvPr/>
        </p:nvCxnSpPr>
        <p:spPr>
          <a:xfrm>
            <a:off x="7772401" y="2270040"/>
            <a:ext cx="0" cy="53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EE31F6C8-0263-31FD-9C7E-31FACC1A6A81}"/>
              </a:ext>
            </a:extLst>
          </p:cNvPr>
          <p:cNvCxnSpPr>
            <a:cxnSpLocks/>
          </p:cNvCxnSpPr>
          <p:nvPr/>
        </p:nvCxnSpPr>
        <p:spPr>
          <a:xfrm>
            <a:off x="8091982" y="2263675"/>
            <a:ext cx="0" cy="53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231BEC2-562C-483C-C6D8-D88510B57E98}"/>
              </a:ext>
            </a:extLst>
          </p:cNvPr>
          <p:cNvCxnSpPr>
            <a:cxnSpLocks/>
          </p:cNvCxnSpPr>
          <p:nvPr/>
        </p:nvCxnSpPr>
        <p:spPr>
          <a:xfrm>
            <a:off x="6760705" y="2270040"/>
            <a:ext cx="0" cy="53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CE8AB9A-4414-6610-C63B-BABA8D72BB40}"/>
              </a:ext>
            </a:extLst>
          </p:cNvPr>
          <p:cNvCxnSpPr>
            <a:cxnSpLocks/>
          </p:cNvCxnSpPr>
          <p:nvPr/>
        </p:nvCxnSpPr>
        <p:spPr>
          <a:xfrm>
            <a:off x="8506383" y="2270040"/>
            <a:ext cx="0" cy="53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F833B28-316F-3096-EAF1-AD59D0AEB484}"/>
              </a:ext>
            </a:extLst>
          </p:cNvPr>
          <p:cNvSpPr txBox="1"/>
          <p:nvPr/>
        </p:nvSpPr>
        <p:spPr>
          <a:xfrm>
            <a:off x="304070" y="2212745"/>
            <a:ext cx="3636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Control de deflexiones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955209C-61B3-C3D7-A148-A232440C0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528" y="1923506"/>
            <a:ext cx="1471936" cy="1584176"/>
          </a:xfrm>
          <a:prstGeom prst="rect">
            <a:avLst/>
          </a:prstGeom>
        </p:spPr>
      </p:pic>
      <p:pic>
        <p:nvPicPr>
          <p:cNvPr id="18" name="Google Shape;182;p22">
            <a:extLst>
              <a:ext uri="{FF2B5EF4-FFF2-40B4-BE49-F238E27FC236}">
                <a16:creationId xmlns:a16="http://schemas.microsoft.com/office/drawing/2014/main" id="{013FBF97-B4C4-9769-71F6-DA2832B964B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7820"/>
          <a:stretch/>
        </p:blipFill>
        <p:spPr>
          <a:xfrm>
            <a:off x="239037" y="2865391"/>
            <a:ext cx="3888432" cy="1960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83;p22">
            <a:extLst>
              <a:ext uri="{FF2B5EF4-FFF2-40B4-BE49-F238E27FC236}">
                <a16:creationId xmlns:a16="http://schemas.microsoft.com/office/drawing/2014/main" id="{D406CB33-7AD5-B64B-69B0-E02B0D9A3BD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04983" y="4061314"/>
            <a:ext cx="6151937" cy="1182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84;p22">
            <a:extLst>
              <a:ext uri="{FF2B5EF4-FFF2-40B4-BE49-F238E27FC236}">
                <a16:creationId xmlns:a16="http://schemas.microsoft.com/office/drawing/2014/main" id="{AB1004F6-DAB7-0F60-630C-7C311FFB3AF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99042" y="241588"/>
            <a:ext cx="8034399" cy="150344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6F6A1042-5951-D879-736C-07AE172E008C}"/>
              </a:ext>
            </a:extLst>
          </p:cNvPr>
          <p:cNvSpPr txBox="1"/>
          <p:nvPr/>
        </p:nvSpPr>
        <p:spPr>
          <a:xfrm>
            <a:off x="5191715" y="5797033"/>
            <a:ext cx="69578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Las estructuras rígidas se dice que son indeformables. Las estructuras no rígidas pueden perder su forma tras un esfuerzo, se dice que son deformables. (Moreno, 2012) </a:t>
            </a:r>
            <a:endParaRPr lang="es-EC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DF3FCEF7-3A35-84D3-C2CE-B3BD988B25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4094" y="4760516"/>
            <a:ext cx="2052643" cy="196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75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E9ED4E8-3F50-4F6D-9697-5349536CD85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5995" y="0"/>
            <a:ext cx="1089191" cy="1234181"/>
          </a:xfrm>
          <a:prstGeom prst="rect">
            <a:avLst/>
          </a:prstGeom>
          <a:noFill/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A9AB151-4299-4BAF-BB8F-F6AC03657E26}"/>
              </a:ext>
            </a:extLst>
          </p:cNvPr>
          <p:cNvSpPr txBox="1"/>
          <p:nvPr/>
        </p:nvSpPr>
        <p:spPr>
          <a:xfrm>
            <a:off x="5482782" y="1401155"/>
            <a:ext cx="785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C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C283488-6FC4-4697-8FC4-F8F00098E529}"/>
              </a:ext>
            </a:extLst>
          </p:cNvPr>
          <p:cNvSpPr/>
          <p:nvPr/>
        </p:nvSpPr>
        <p:spPr>
          <a:xfrm>
            <a:off x="735197" y="1401155"/>
            <a:ext cx="10226041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BBDC35-27A4-46CC-83EB-5602A549652F}"/>
              </a:ext>
            </a:extLst>
          </p:cNvPr>
          <p:cNvSpPr/>
          <p:nvPr/>
        </p:nvSpPr>
        <p:spPr>
          <a:xfrm>
            <a:off x="1217892" y="1941439"/>
            <a:ext cx="655321" cy="413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CD3AE0-2482-4820-A1F4-08C66F546C05}"/>
              </a:ext>
            </a:extLst>
          </p:cNvPr>
          <p:cNvSpPr/>
          <p:nvPr/>
        </p:nvSpPr>
        <p:spPr>
          <a:xfrm>
            <a:off x="2457604" y="1941438"/>
            <a:ext cx="655321" cy="413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22720D0-E396-47C7-8082-1BFCEFA89F77}"/>
              </a:ext>
            </a:extLst>
          </p:cNvPr>
          <p:cNvSpPr/>
          <p:nvPr/>
        </p:nvSpPr>
        <p:spPr>
          <a:xfrm>
            <a:off x="3697316" y="1941437"/>
            <a:ext cx="655321" cy="413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0F0028E-4F7E-437C-BB24-1154B5E79C00}"/>
              </a:ext>
            </a:extLst>
          </p:cNvPr>
          <p:cNvSpPr/>
          <p:nvPr/>
        </p:nvSpPr>
        <p:spPr>
          <a:xfrm>
            <a:off x="4937028" y="1941436"/>
            <a:ext cx="655321" cy="413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48342D1-F82C-428A-9D0F-3F54065356F5}"/>
              </a:ext>
            </a:extLst>
          </p:cNvPr>
          <p:cNvSpPr/>
          <p:nvPr/>
        </p:nvSpPr>
        <p:spPr>
          <a:xfrm>
            <a:off x="6137683" y="1941433"/>
            <a:ext cx="655321" cy="413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F3E9244-178D-4146-8D5A-FA46ED068D0D}"/>
              </a:ext>
            </a:extLst>
          </p:cNvPr>
          <p:cNvSpPr/>
          <p:nvPr/>
        </p:nvSpPr>
        <p:spPr>
          <a:xfrm>
            <a:off x="7338338" y="1941435"/>
            <a:ext cx="655321" cy="413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3868102-A01F-4CA9-8DC7-08F295F92994}"/>
              </a:ext>
            </a:extLst>
          </p:cNvPr>
          <p:cNvSpPr/>
          <p:nvPr/>
        </p:nvSpPr>
        <p:spPr>
          <a:xfrm>
            <a:off x="8528086" y="1941434"/>
            <a:ext cx="655321" cy="413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5FD85CC-88A8-4C68-BBB2-DBFF4BC341FE}"/>
              </a:ext>
            </a:extLst>
          </p:cNvPr>
          <p:cNvSpPr/>
          <p:nvPr/>
        </p:nvSpPr>
        <p:spPr>
          <a:xfrm>
            <a:off x="9744897" y="1941432"/>
            <a:ext cx="655321" cy="413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B5CB8F5-B34F-45E1-947D-491DC7846F1A}"/>
              </a:ext>
            </a:extLst>
          </p:cNvPr>
          <p:cNvSpPr txBox="1"/>
          <p:nvPr/>
        </p:nvSpPr>
        <p:spPr>
          <a:xfrm>
            <a:off x="5482782" y="1896062"/>
            <a:ext cx="785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T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511961-FC22-4C8C-8F44-7DA21F7362CE}"/>
              </a:ext>
            </a:extLst>
          </p:cNvPr>
          <p:cNvSpPr txBox="1"/>
          <p:nvPr/>
        </p:nvSpPr>
        <p:spPr>
          <a:xfrm>
            <a:off x="862306" y="2895529"/>
            <a:ext cx="94600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A partir de este análisis, se considera el uso de bloques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326717A-EF5F-47AE-BD69-F135BD7F3298}"/>
              </a:ext>
            </a:extLst>
          </p:cNvPr>
          <p:cNvSpPr/>
          <p:nvPr/>
        </p:nvSpPr>
        <p:spPr>
          <a:xfrm>
            <a:off x="1217892" y="1941432"/>
            <a:ext cx="655321" cy="38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772DC80-D842-4CF4-86F6-59D033884313}"/>
              </a:ext>
            </a:extLst>
          </p:cNvPr>
          <p:cNvSpPr/>
          <p:nvPr/>
        </p:nvSpPr>
        <p:spPr>
          <a:xfrm>
            <a:off x="2467728" y="1957379"/>
            <a:ext cx="655321" cy="38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9524DEC-228E-496F-8D8C-ECCD68C1FB68}"/>
              </a:ext>
            </a:extLst>
          </p:cNvPr>
          <p:cNvSpPr/>
          <p:nvPr/>
        </p:nvSpPr>
        <p:spPr>
          <a:xfrm>
            <a:off x="3671437" y="1942675"/>
            <a:ext cx="655321" cy="38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1AC852C-F372-4EF9-A050-65088650E8CA}"/>
              </a:ext>
            </a:extLst>
          </p:cNvPr>
          <p:cNvSpPr/>
          <p:nvPr/>
        </p:nvSpPr>
        <p:spPr>
          <a:xfrm>
            <a:off x="4937027" y="1957379"/>
            <a:ext cx="655321" cy="38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AEDBD3D-BD50-40F5-982D-F54B7EA82112}"/>
              </a:ext>
            </a:extLst>
          </p:cNvPr>
          <p:cNvSpPr/>
          <p:nvPr/>
        </p:nvSpPr>
        <p:spPr>
          <a:xfrm>
            <a:off x="6126775" y="1957379"/>
            <a:ext cx="655321" cy="38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AD68368-7746-4273-B261-1C135D4F287E}"/>
              </a:ext>
            </a:extLst>
          </p:cNvPr>
          <p:cNvSpPr/>
          <p:nvPr/>
        </p:nvSpPr>
        <p:spPr>
          <a:xfrm>
            <a:off x="7329383" y="1957379"/>
            <a:ext cx="655321" cy="38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AE3FB97-BF9D-417D-8C5A-5F8C06F132D6}"/>
              </a:ext>
            </a:extLst>
          </p:cNvPr>
          <p:cNvSpPr/>
          <p:nvPr/>
        </p:nvSpPr>
        <p:spPr>
          <a:xfrm>
            <a:off x="8528120" y="1941432"/>
            <a:ext cx="655321" cy="38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3F7AA11-FC0D-49CF-BFA8-5EC6871E3EA2}"/>
              </a:ext>
            </a:extLst>
          </p:cNvPr>
          <p:cNvSpPr/>
          <p:nvPr/>
        </p:nvSpPr>
        <p:spPr>
          <a:xfrm>
            <a:off x="9744897" y="1957378"/>
            <a:ext cx="655321" cy="38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E877CD2-2B0E-4762-9D8F-CCA7F068637D}"/>
              </a:ext>
            </a:extLst>
          </p:cNvPr>
          <p:cNvSpPr/>
          <p:nvPr/>
        </p:nvSpPr>
        <p:spPr>
          <a:xfrm>
            <a:off x="3875932" y="4904471"/>
            <a:ext cx="655321" cy="38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B2EC652-1D13-4131-B483-816F6AA04170}"/>
              </a:ext>
            </a:extLst>
          </p:cNvPr>
          <p:cNvSpPr txBox="1"/>
          <p:nvPr/>
        </p:nvSpPr>
        <p:spPr>
          <a:xfrm>
            <a:off x="4641081" y="4854835"/>
            <a:ext cx="5394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CUMPLEN NINGUNA FUNCIÒN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65AD1F4-9AFD-09E4-2BD2-370FF7657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57604" y="4854835"/>
            <a:ext cx="1258614" cy="1624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101244F-5019-5EFE-9326-42E53CEF876D}"/>
              </a:ext>
            </a:extLst>
          </p:cNvPr>
          <p:cNvCxnSpPr/>
          <p:nvPr/>
        </p:nvCxnSpPr>
        <p:spPr>
          <a:xfrm flipV="1">
            <a:off x="726814" y="0"/>
            <a:ext cx="2568179" cy="14011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7851B64-B05F-7B3D-62FE-0E98294E564E}"/>
              </a:ext>
            </a:extLst>
          </p:cNvPr>
          <p:cNvCxnSpPr>
            <a:cxnSpLocks/>
          </p:cNvCxnSpPr>
          <p:nvPr/>
        </p:nvCxnSpPr>
        <p:spPr>
          <a:xfrm flipV="1">
            <a:off x="10949237" y="617090"/>
            <a:ext cx="1242763" cy="7840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528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66FB-274E-CAD3-AE6E-63C8C0D7B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5DA9AE-4C4D-35D0-D05E-47179B9F823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729" y="256318"/>
            <a:ext cx="1089191" cy="1234181"/>
          </a:xfrm>
          <a:prstGeom prst="rect">
            <a:avLst/>
          </a:prstGeom>
          <a:noFill/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D460C55-D205-7897-9014-EDF0B6275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904053"/>
              </p:ext>
            </p:extLst>
          </p:nvPr>
        </p:nvGraphicFramePr>
        <p:xfrm>
          <a:off x="846399" y="1040662"/>
          <a:ext cx="9180976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5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5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5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5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  <a:p>
                      <a:pPr algn="ctr"/>
                      <a:endParaRPr lang="es-ES" dirty="0"/>
                    </a:p>
                    <a:p>
                      <a:pPr algn="ctr"/>
                      <a:r>
                        <a:rPr lang="es-ES" dirty="0" err="1"/>
                        <a:t>Lv</a:t>
                      </a:r>
                      <a:r>
                        <a:rPr lang="es-ES" dirty="0"/>
                        <a:t>=3,6m</a:t>
                      </a:r>
                    </a:p>
                    <a:p>
                      <a:pPr algn="ctr"/>
                      <a:endParaRPr lang="es-ES" dirty="0"/>
                    </a:p>
                    <a:p>
                      <a:pPr algn="ctr"/>
                      <a:r>
                        <a:rPr lang="es-ES" dirty="0"/>
                        <a:t>15cm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Lv</a:t>
                      </a:r>
                      <a:r>
                        <a:rPr lang="es-ES" dirty="0"/>
                        <a:t>=4,7m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20cm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Lv</a:t>
                      </a:r>
                      <a:r>
                        <a:rPr lang="es-ES" dirty="0"/>
                        <a:t>=6,0m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25cm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Lv&gt;6,0m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No</a:t>
                      </a:r>
                      <a:r>
                        <a:rPr lang="es-ES" baseline="0" dirty="0"/>
                        <a:t> hacer una losa de 25 cm si no poner una viga en  medio.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23F36AB-65AE-CF1B-35DB-3255C0A8A33B}"/>
              </a:ext>
            </a:extLst>
          </p:cNvPr>
          <p:cNvSpPr txBox="1"/>
          <p:nvPr/>
        </p:nvSpPr>
        <p:spPr>
          <a:xfrm>
            <a:off x="2965989" y="3620993"/>
            <a:ext cx="157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Carga muerta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6BA7C86-AD86-D2DE-2D57-C0D388A72156}"/>
              </a:ext>
            </a:extLst>
          </p:cNvPr>
          <p:cNvSpPr/>
          <p:nvPr/>
        </p:nvSpPr>
        <p:spPr>
          <a:xfrm>
            <a:off x="846399" y="4340010"/>
            <a:ext cx="69786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      Peso de la losa                           =360kg/m2</a:t>
            </a:r>
          </a:p>
          <a:p>
            <a:pPr algn="ctr"/>
            <a:r>
              <a:rPr lang="es-ES" dirty="0"/>
              <a:t>Peso agregado sobre la losa            =40kg/m2</a:t>
            </a:r>
          </a:p>
          <a:p>
            <a:pPr algn="ctr"/>
            <a:r>
              <a:rPr lang="es-ES" dirty="0"/>
              <a:t> Peso agregado bajo la losa            =40kg/m2  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B1E06F-466A-8878-84BD-327AA3860D9E}"/>
              </a:ext>
            </a:extLst>
          </p:cNvPr>
          <p:cNvSpPr/>
          <p:nvPr/>
        </p:nvSpPr>
        <p:spPr>
          <a:xfrm>
            <a:off x="8633296" y="4888666"/>
            <a:ext cx="24033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dirty="0"/>
              <a:t>Total, Cm =440kg/m2</a:t>
            </a:r>
          </a:p>
        </p:txBody>
      </p:sp>
      <p:sp>
        <p:nvSpPr>
          <p:cNvPr id="10" name="Rectángulo redondeado 12">
            <a:extLst>
              <a:ext uri="{FF2B5EF4-FFF2-40B4-BE49-F238E27FC236}">
                <a16:creationId xmlns:a16="http://schemas.microsoft.com/office/drawing/2014/main" id="{79A6AD0A-FE0C-0A69-E65D-2295BB57402A}"/>
              </a:ext>
            </a:extLst>
          </p:cNvPr>
          <p:cNvSpPr/>
          <p:nvPr/>
        </p:nvSpPr>
        <p:spPr>
          <a:xfrm>
            <a:off x="8552562" y="4692782"/>
            <a:ext cx="2793039" cy="77785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BAF59D8-C0D0-43C6-8612-A0A25314BFF1}"/>
              </a:ext>
            </a:extLst>
          </p:cNvPr>
          <p:cNvSpPr/>
          <p:nvPr/>
        </p:nvSpPr>
        <p:spPr>
          <a:xfrm>
            <a:off x="846399" y="5817338"/>
            <a:ext cx="9529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/>
              <a:t>EL SECRETO DE LAS ESTRUCTURAS ES ROMPER INERCIA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7D27572F-D3AF-649E-4DD4-FBD862367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971" y="2133991"/>
            <a:ext cx="1580996" cy="2183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589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F1F87-D1A9-74C7-1795-AF0153A4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4537F4F-2B61-A24F-BD97-4F4178A72AC1}"/>
              </a:ext>
            </a:extLst>
          </p:cNvPr>
          <p:cNvSpPr txBox="1"/>
          <p:nvPr/>
        </p:nvSpPr>
        <p:spPr>
          <a:xfrm>
            <a:off x="1830922" y="667090"/>
            <a:ext cx="4265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Carga muerta para una losa de 15 cm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D38781-74A8-6005-83C9-806EA3FA9775}"/>
              </a:ext>
            </a:extLst>
          </p:cNvPr>
          <p:cNvSpPr/>
          <p:nvPr/>
        </p:nvSpPr>
        <p:spPr>
          <a:xfrm>
            <a:off x="6534045" y="455887"/>
            <a:ext cx="565795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      Peso de la losa                           =250 kg/m2</a:t>
            </a:r>
          </a:p>
          <a:p>
            <a:pPr algn="ctr"/>
            <a:r>
              <a:rPr lang="es-ES" dirty="0"/>
              <a:t>Peso agregado sobre la losa           =40kg/m2</a:t>
            </a:r>
          </a:p>
          <a:p>
            <a:pPr algn="ctr"/>
            <a:r>
              <a:rPr lang="es-ES" dirty="0"/>
              <a:t> Peso agregado bajo la losa            =40kg/m2  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11DBEDE-BDD9-CF35-BD15-7F608C25272F}"/>
              </a:ext>
            </a:extLst>
          </p:cNvPr>
          <p:cNvSpPr/>
          <p:nvPr/>
        </p:nvSpPr>
        <p:spPr>
          <a:xfrm>
            <a:off x="9439959" y="5239610"/>
            <a:ext cx="24033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dirty="0"/>
              <a:t>Total, Cm =440kg/m2</a:t>
            </a:r>
          </a:p>
        </p:txBody>
      </p:sp>
      <p:sp>
        <p:nvSpPr>
          <p:cNvPr id="10" name="Rectángulo redondeado 12">
            <a:extLst>
              <a:ext uri="{FF2B5EF4-FFF2-40B4-BE49-F238E27FC236}">
                <a16:creationId xmlns:a16="http://schemas.microsoft.com/office/drawing/2014/main" id="{F83579E9-A95F-D059-94D0-66DC6838B5E8}"/>
              </a:ext>
            </a:extLst>
          </p:cNvPr>
          <p:cNvSpPr/>
          <p:nvPr/>
        </p:nvSpPr>
        <p:spPr>
          <a:xfrm>
            <a:off x="9359225" y="5043726"/>
            <a:ext cx="2793039" cy="77785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E72DB38-4EF4-2419-98BE-75CFD5016587}"/>
              </a:ext>
            </a:extLst>
          </p:cNvPr>
          <p:cNvSpPr/>
          <p:nvPr/>
        </p:nvSpPr>
        <p:spPr>
          <a:xfrm>
            <a:off x="1470590" y="5947651"/>
            <a:ext cx="9529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/>
              <a:t>EL SECRETO DE LAS ESTRUCTURAS ES ROMPER INERCIA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079285-A68B-BD82-7D48-2D81CFA33757}"/>
              </a:ext>
            </a:extLst>
          </p:cNvPr>
          <p:cNvSpPr txBox="1"/>
          <p:nvPr/>
        </p:nvSpPr>
        <p:spPr>
          <a:xfrm>
            <a:off x="1970310" y="2444185"/>
            <a:ext cx="4265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Carga muerta para una losa de 20 cm 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BADAE2-3D5A-4990-71BE-7B77103C0907}"/>
              </a:ext>
            </a:extLst>
          </p:cNvPr>
          <p:cNvSpPr/>
          <p:nvPr/>
        </p:nvSpPr>
        <p:spPr>
          <a:xfrm>
            <a:off x="6729517" y="2074853"/>
            <a:ext cx="52670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      Peso de la losa                           =300 kg/m2</a:t>
            </a:r>
          </a:p>
          <a:p>
            <a:pPr algn="ctr"/>
            <a:r>
              <a:rPr lang="es-ES" dirty="0"/>
              <a:t>Peso agregado sobre la losa           =40kg/m2</a:t>
            </a:r>
          </a:p>
          <a:p>
            <a:pPr algn="ctr"/>
            <a:r>
              <a:rPr lang="es-ES" dirty="0"/>
              <a:t> Peso agregado bajo la losa            =40kg/m2  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66F1020-32C0-7C3B-1B69-9A91507D28BF}"/>
              </a:ext>
            </a:extLst>
          </p:cNvPr>
          <p:cNvSpPr txBox="1"/>
          <p:nvPr/>
        </p:nvSpPr>
        <p:spPr>
          <a:xfrm>
            <a:off x="1917758" y="4342112"/>
            <a:ext cx="4265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Carga muerta para una losa de 25 cm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2F66EE-F062-F741-1112-219361A782D3}"/>
              </a:ext>
            </a:extLst>
          </p:cNvPr>
          <p:cNvSpPr/>
          <p:nvPr/>
        </p:nvSpPr>
        <p:spPr>
          <a:xfrm>
            <a:off x="6534045" y="3955324"/>
            <a:ext cx="52670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      Peso de la losa                           =360 kg/m2</a:t>
            </a:r>
          </a:p>
          <a:p>
            <a:pPr algn="ctr"/>
            <a:r>
              <a:rPr lang="es-ES" dirty="0"/>
              <a:t>Peso agregado sobre la losa           =40kg/m2</a:t>
            </a:r>
          </a:p>
          <a:p>
            <a:pPr algn="ctr"/>
            <a:r>
              <a:rPr lang="es-ES" dirty="0"/>
              <a:t> Peso agregado bajo la losa            =40kg/m2  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289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82458-BED8-90DB-1839-84DDF8B7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o 1">
            <a:extLst>
              <a:ext uri="{FF2B5EF4-FFF2-40B4-BE49-F238E27FC236}">
                <a16:creationId xmlns:a16="http://schemas.microsoft.com/office/drawing/2014/main" id="{E61E6624-DACA-4F7B-3DF8-0B20E84EC59A}"/>
              </a:ext>
            </a:extLst>
          </p:cNvPr>
          <p:cNvSpPr/>
          <p:nvPr/>
        </p:nvSpPr>
        <p:spPr>
          <a:xfrm>
            <a:off x="2632970" y="2594305"/>
            <a:ext cx="6889775" cy="2011133"/>
          </a:xfrm>
          <a:prstGeom prst="cube">
            <a:avLst>
              <a:gd name="adj" fmla="val 77522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8B72F49-07F2-84B5-5EB3-363CF3B39DDC}"/>
              </a:ext>
            </a:extLst>
          </p:cNvPr>
          <p:cNvSpPr txBox="1"/>
          <p:nvPr/>
        </p:nvSpPr>
        <p:spPr>
          <a:xfrm>
            <a:off x="3410769" y="1851506"/>
            <a:ext cx="6889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CARGA MUERTA – VIVIENDA - BODEGA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44391B4-7C2D-AF53-6E5E-44EF5DC45B3A}"/>
              </a:ext>
            </a:extLst>
          </p:cNvPr>
          <p:cNvSpPr/>
          <p:nvPr/>
        </p:nvSpPr>
        <p:spPr>
          <a:xfrm>
            <a:off x="5326817" y="3093984"/>
            <a:ext cx="1613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dirty="0"/>
              <a:t>0,440 Ton/m2</a:t>
            </a:r>
          </a:p>
        </p:txBody>
      </p:sp>
      <p:sp>
        <p:nvSpPr>
          <p:cNvPr id="19" name="Rectángulo redondeado 12">
            <a:extLst>
              <a:ext uri="{FF2B5EF4-FFF2-40B4-BE49-F238E27FC236}">
                <a16:creationId xmlns:a16="http://schemas.microsoft.com/office/drawing/2014/main" id="{20FCC9F0-4500-A730-DE5F-D158417F5147}"/>
              </a:ext>
            </a:extLst>
          </p:cNvPr>
          <p:cNvSpPr/>
          <p:nvPr/>
        </p:nvSpPr>
        <p:spPr>
          <a:xfrm>
            <a:off x="4868033" y="2889724"/>
            <a:ext cx="2793039" cy="77785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C00A827-3D5F-D801-2765-C91A61571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731" y="4105853"/>
            <a:ext cx="2072269" cy="275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7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B2503-4078-0F56-52A1-2588CA1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bo 10">
            <a:extLst>
              <a:ext uri="{FF2B5EF4-FFF2-40B4-BE49-F238E27FC236}">
                <a16:creationId xmlns:a16="http://schemas.microsoft.com/office/drawing/2014/main" id="{D26678FB-FA95-9E19-71FE-9511C01D62F8}"/>
              </a:ext>
            </a:extLst>
          </p:cNvPr>
          <p:cNvSpPr/>
          <p:nvPr/>
        </p:nvSpPr>
        <p:spPr>
          <a:xfrm>
            <a:off x="1298179" y="2429460"/>
            <a:ext cx="9154360" cy="2011133"/>
          </a:xfrm>
          <a:prstGeom prst="cube">
            <a:avLst>
              <a:gd name="adj" fmla="val 77522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46CF941-F8F9-A4A1-AEF3-FFF500EA363C}"/>
              </a:ext>
            </a:extLst>
          </p:cNvPr>
          <p:cNvSpPr txBox="1"/>
          <p:nvPr/>
        </p:nvSpPr>
        <p:spPr>
          <a:xfrm>
            <a:off x="1886908" y="1570173"/>
            <a:ext cx="6891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CARGA MUERTA PAREDES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3DABA0A-CD05-D4B3-BC7A-E09ED0DF3770}"/>
              </a:ext>
            </a:extLst>
          </p:cNvPr>
          <p:cNvSpPr/>
          <p:nvPr/>
        </p:nvSpPr>
        <p:spPr>
          <a:xfrm>
            <a:off x="3106491" y="2659427"/>
            <a:ext cx="54855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PESADA(BLOQUE – LADRILLO): 0,18 Ton/m2</a:t>
            </a:r>
          </a:p>
        </p:txBody>
      </p:sp>
      <p:sp>
        <p:nvSpPr>
          <p:cNvPr id="7" name="Rectángulo redondeado 12">
            <a:extLst>
              <a:ext uri="{FF2B5EF4-FFF2-40B4-BE49-F238E27FC236}">
                <a16:creationId xmlns:a16="http://schemas.microsoft.com/office/drawing/2014/main" id="{7F791239-683C-891C-6909-079B19D3CB8D}"/>
              </a:ext>
            </a:extLst>
          </p:cNvPr>
          <p:cNvSpPr/>
          <p:nvPr/>
        </p:nvSpPr>
        <p:spPr>
          <a:xfrm>
            <a:off x="2932236" y="2491832"/>
            <a:ext cx="5849007" cy="140832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E1F51B0-C018-CC47-649E-7DE19504A0DE}"/>
              </a:ext>
            </a:extLst>
          </p:cNvPr>
          <p:cNvSpPr/>
          <p:nvPr/>
        </p:nvSpPr>
        <p:spPr>
          <a:xfrm>
            <a:off x="3106490" y="3356205"/>
            <a:ext cx="54855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LIVIANA(GIPSUM – STEL FRAMING): 0,09 Ton/m2</a:t>
            </a:r>
          </a:p>
        </p:txBody>
      </p:sp>
    </p:spTree>
    <p:extLst>
      <p:ext uri="{BB962C8B-B14F-4D97-AF65-F5344CB8AC3E}">
        <p14:creationId xmlns:p14="http://schemas.microsoft.com/office/powerpoint/2010/main" val="3089200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84E9E-5ABB-703A-8D4B-E449D545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11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Un conjunto de imágenes de una persona&#10;&#10;El contenido generado por IA puede ser incorrecto.">
            <a:extLst>
              <a:ext uri="{FF2B5EF4-FFF2-40B4-BE49-F238E27FC236}">
                <a16:creationId xmlns:a16="http://schemas.microsoft.com/office/drawing/2014/main" id="{6D636C09-6C56-0DE2-43F6-1CDD02022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195" y="1131994"/>
            <a:ext cx="7747487" cy="4590386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77B7F67A-36C1-D6AD-9D5C-5CB82B0674CA}"/>
              </a:ext>
            </a:extLst>
          </p:cNvPr>
          <p:cNvSpPr txBox="1"/>
          <p:nvPr/>
        </p:nvSpPr>
        <p:spPr>
          <a:xfrm>
            <a:off x="2896889" y="1679636"/>
            <a:ext cx="142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VIVIENDA</a:t>
            </a:r>
            <a:endParaRPr lang="es-EC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4183C4F-266D-F847-44B6-13B22394DE65}"/>
              </a:ext>
            </a:extLst>
          </p:cNvPr>
          <p:cNvSpPr txBox="1"/>
          <p:nvPr/>
        </p:nvSpPr>
        <p:spPr>
          <a:xfrm>
            <a:off x="5521771" y="1667841"/>
            <a:ext cx="142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VIVIENDA</a:t>
            </a:r>
            <a:endParaRPr lang="es-EC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5F31BFB-5F11-3E8B-964F-42D307DCA7EB}"/>
              </a:ext>
            </a:extLst>
          </p:cNvPr>
          <p:cNvSpPr txBox="1"/>
          <p:nvPr/>
        </p:nvSpPr>
        <p:spPr>
          <a:xfrm>
            <a:off x="8086679" y="1686236"/>
            <a:ext cx="142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VIVIENDA</a:t>
            </a:r>
            <a:endParaRPr lang="es-EC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828A2B5-2F2F-BC97-BAA0-86EEDA598AB1}"/>
              </a:ext>
            </a:extLst>
          </p:cNvPr>
          <p:cNvSpPr txBox="1"/>
          <p:nvPr/>
        </p:nvSpPr>
        <p:spPr>
          <a:xfrm>
            <a:off x="3009556" y="2785811"/>
            <a:ext cx="142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VIVIENDA</a:t>
            </a:r>
            <a:endParaRPr lang="es-EC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118E0D1-26C8-ADB5-3D19-5C40C484414E}"/>
              </a:ext>
            </a:extLst>
          </p:cNvPr>
          <p:cNvSpPr txBox="1"/>
          <p:nvPr/>
        </p:nvSpPr>
        <p:spPr>
          <a:xfrm>
            <a:off x="5585013" y="2785811"/>
            <a:ext cx="142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VIVIENDA</a:t>
            </a:r>
            <a:endParaRPr lang="es-EC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6B1A929B-9E1B-D3BE-B9CD-0BAA750A6B45}"/>
              </a:ext>
            </a:extLst>
          </p:cNvPr>
          <p:cNvSpPr txBox="1"/>
          <p:nvPr/>
        </p:nvSpPr>
        <p:spPr>
          <a:xfrm>
            <a:off x="8177430" y="2832021"/>
            <a:ext cx="142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VIVIENDA</a:t>
            </a:r>
            <a:endParaRPr lang="es-EC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9A3FEE4-6032-3DBB-1A36-90601D846D4C}"/>
              </a:ext>
            </a:extLst>
          </p:cNvPr>
          <p:cNvSpPr txBox="1"/>
          <p:nvPr/>
        </p:nvSpPr>
        <p:spPr>
          <a:xfrm>
            <a:off x="3023511" y="4149578"/>
            <a:ext cx="142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BODEGA</a:t>
            </a:r>
            <a:endParaRPr lang="es-EC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27791BA-DE4D-C97F-B09E-B48B8742CCA0}"/>
              </a:ext>
            </a:extLst>
          </p:cNvPr>
          <p:cNvSpPr txBox="1"/>
          <p:nvPr/>
        </p:nvSpPr>
        <p:spPr>
          <a:xfrm>
            <a:off x="5541146" y="4149578"/>
            <a:ext cx="142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BODEGA</a:t>
            </a:r>
            <a:endParaRPr lang="es-EC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AD2564C-A776-E845-A7A7-361D12F43D88}"/>
              </a:ext>
            </a:extLst>
          </p:cNvPr>
          <p:cNvSpPr txBox="1"/>
          <p:nvPr/>
        </p:nvSpPr>
        <p:spPr>
          <a:xfrm>
            <a:off x="8290985" y="4068564"/>
            <a:ext cx="142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BODEGA</a:t>
            </a:r>
            <a:endParaRPr lang="es-EC" dirty="0"/>
          </a:p>
        </p:txBody>
      </p:sp>
      <p:pic>
        <p:nvPicPr>
          <p:cNvPr id="48" name="Picture 5">
            <a:extLst>
              <a:ext uri="{FF2B5EF4-FFF2-40B4-BE49-F238E27FC236}">
                <a16:creationId xmlns:a16="http://schemas.microsoft.com/office/drawing/2014/main" id="{886B0686-FFAF-075F-4173-33C176C0D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85194" y="1020495"/>
            <a:ext cx="861489" cy="111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50" name="Picture 5">
            <a:extLst>
              <a:ext uri="{FF2B5EF4-FFF2-40B4-BE49-F238E27FC236}">
                <a16:creationId xmlns:a16="http://schemas.microsoft.com/office/drawing/2014/main" id="{B74F8887-6DF3-70C0-4873-85808A3EB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73675" y="2190894"/>
            <a:ext cx="861489" cy="111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51" name="Picture 5">
            <a:extLst>
              <a:ext uri="{FF2B5EF4-FFF2-40B4-BE49-F238E27FC236}">
                <a16:creationId xmlns:a16="http://schemas.microsoft.com/office/drawing/2014/main" id="{B603C994-4BFB-63EA-8D15-A0BE29B4D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80905" y="3325767"/>
            <a:ext cx="861489" cy="111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52" name="Picture 5">
            <a:extLst>
              <a:ext uri="{FF2B5EF4-FFF2-40B4-BE49-F238E27FC236}">
                <a16:creationId xmlns:a16="http://schemas.microsoft.com/office/drawing/2014/main" id="{8142636C-B8E7-8B41-1FAB-42AD0CDEE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37134" y="4518910"/>
            <a:ext cx="861489" cy="111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561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3403-87F3-7740-1FF3-40F79B77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o 1">
            <a:extLst>
              <a:ext uri="{FF2B5EF4-FFF2-40B4-BE49-F238E27FC236}">
                <a16:creationId xmlns:a16="http://schemas.microsoft.com/office/drawing/2014/main" id="{ACA07A49-8E01-EC2C-DF9E-0D8727ACEE9D}"/>
              </a:ext>
            </a:extLst>
          </p:cNvPr>
          <p:cNvSpPr/>
          <p:nvPr/>
        </p:nvSpPr>
        <p:spPr>
          <a:xfrm>
            <a:off x="1594823" y="1549789"/>
            <a:ext cx="8857716" cy="2011133"/>
          </a:xfrm>
          <a:prstGeom prst="cube">
            <a:avLst>
              <a:gd name="adj" fmla="val 77522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1" name="Cubo 10">
            <a:extLst>
              <a:ext uri="{FF2B5EF4-FFF2-40B4-BE49-F238E27FC236}">
                <a16:creationId xmlns:a16="http://schemas.microsoft.com/office/drawing/2014/main" id="{364C861D-B821-D02E-A17E-5AF3D01FB3A8}"/>
              </a:ext>
            </a:extLst>
          </p:cNvPr>
          <p:cNvSpPr/>
          <p:nvPr/>
        </p:nvSpPr>
        <p:spPr>
          <a:xfrm>
            <a:off x="1771118" y="4665396"/>
            <a:ext cx="9154360" cy="2011133"/>
          </a:xfrm>
          <a:prstGeom prst="cube">
            <a:avLst>
              <a:gd name="adj" fmla="val 77522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9B04F4B-3D11-7857-2793-87301FBB1226}"/>
              </a:ext>
            </a:extLst>
          </p:cNvPr>
          <p:cNvSpPr txBox="1"/>
          <p:nvPr/>
        </p:nvSpPr>
        <p:spPr>
          <a:xfrm>
            <a:off x="3195144" y="561515"/>
            <a:ext cx="5502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CARGA VIVA - VIVIENDA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4A11794-7320-2484-218C-C609EF4BB960}"/>
              </a:ext>
            </a:extLst>
          </p:cNvPr>
          <p:cNvSpPr/>
          <p:nvPr/>
        </p:nvSpPr>
        <p:spPr>
          <a:xfrm>
            <a:off x="4933038" y="2145485"/>
            <a:ext cx="23324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0,20 Ton/m2</a:t>
            </a:r>
          </a:p>
        </p:txBody>
      </p:sp>
      <p:sp>
        <p:nvSpPr>
          <p:cNvPr id="19" name="Rectángulo redondeado 12">
            <a:extLst>
              <a:ext uri="{FF2B5EF4-FFF2-40B4-BE49-F238E27FC236}">
                <a16:creationId xmlns:a16="http://schemas.microsoft.com/office/drawing/2014/main" id="{13328D54-4174-FEF2-1B59-92ED5EEA3551}"/>
              </a:ext>
            </a:extLst>
          </p:cNvPr>
          <p:cNvSpPr/>
          <p:nvPr/>
        </p:nvSpPr>
        <p:spPr>
          <a:xfrm>
            <a:off x="3090041" y="1625990"/>
            <a:ext cx="5849007" cy="140832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90A8DF9-9B98-B4E2-5168-D5E14580E6A6}"/>
              </a:ext>
            </a:extLst>
          </p:cNvPr>
          <p:cNvSpPr txBox="1"/>
          <p:nvPr/>
        </p:nvSpPr>
        <p:spPr>
          <a:xfrm>
            <a:off x="3498565" y="4004085"/>
            <a:ext cx="5662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CARGA VIVA - BODEGA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 redondeado 12">
            <a:extLst>
              <a:ext uri="{FF2B5EF4-FFF2-40B4-BE49-F238E27FC236}">
                <a16:creationId xmlns:a16="http://schemas.microsoft.com/office/drawing/2014/main" id="{228D9EF4-6C93-AF38-6CFF-7071E48DC66B}"/>
              </a:ext>
            </a:extLst>
          </p:cNvPr>
          <p:cNvSpPr/>
          <p:nvPr/>
        </p:nvSpPr>
        <p:spPr>
          <a:xfrm>
            <a:off x="3405175" y="4727768"/>
            <a:ext cx="5849007" cy="140832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C18F714-8B62-FC3D-DE85-BDE81842F9B9}"/>
              </a:ext>
            </a:extLst>
          </p:cNvPr>
          <p:cNvSpPr/>
          <p:nvPr/>
        </p:nvSpPr>
        <p:spPr>
          <a:xfrm>
            <a:off x="5163446" y="5216776"/>
            <a:ext cx="23324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0,48 Ton/m2</a:t>
            </a:r>
          </a:p>
        </p:txBody>
      </p:sp>
    </p:spTree>
    <p:extLst>
      <p:ext uri="{BB962C8B-B14F-4D97-AF65-F5344CB8AC3E}">
        <p14:creationId xmlns:p14="http://schemas.microsoft.com/office/powerpoint/2010/main" val="293335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E9ED4E8-3F50-4F6D-9697-5349536CD85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5995" y="0"/>
            <a:ext cx="1089191" cy="1234181"/>
          </a:xfrm>
          <a:prstGeom prst="rect">
            <a:avLst/>
          </a:prstGeom>
          <a:noFill/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1A49AEB-5A62-4489-9DEB-F1AA23F5990A}"/>
              </a:ext>
            </a:extLst>
          </p:cNvPr>
          <p:cNvSpPr txBox="1"/>
          <p:nvPr/>
        </p:nvSpPr>
        <p:spPr>
          <a:xfrm>
            <a:off x="2150627" y="287201"/>
            <a:ext cx="157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Carga muerta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441234-4267-47BD-A8F6-DAC9B0249D46}"/>
              </a:ext>
            </a:extLst>
          </p:cNvPr>
          <p:cNvSpPr/>
          <p:nvPr/>
        </p:nvSpPr>
        <p:spPr>
          <a:xfrm>
            <a:off x="238084" y="1158778"/>
            <a:ext cx="69786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      Peso de la losa                           =360kg/m2</a:t>
            </a:r>
          </a:p>
          <a:p>
            <a:pPr algn="ctr"/>
            <a:r>
              <a:rPr lang="es-ES" dirty="0"/>
              <a:t>Peso agregado sobre la losa    =40kg/m2</a:t>
            </a:r>
          </a:p>
          <a:p>
            <a:pPr algn="ctr"/>
            <a:r>
              <a:rPr lang="es-ES" dirty="0"/>
              <a:t> Peso agregado bajo la losa       =40kg/m2  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100647-5448-4AF7-80AD-8B82C7A6D1A8}"/>
              </a:ext>
            </a:extLst>
          </p:cNvPr>
          <p:cNvSpPr/>
          <p:nvPr/>
        </p:nvSpPr>
        <p:spPr>
          <a:xfrm>
            <a:off x="3651105" y="2441781"/>
            <a:ext cx="231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dirty="0"/>
              <a:t>Total Cm =440kg/m2</a:t>
            </a:r>
          </a:p>
        </p:txBody>
      </p:sp>
      <p:sp>
        <p:nvSpPr>
          <p:cNvPr id="10" name="Rectángulo redondeado 12">
            <a:extLst>
              <a:ext uri="{FF2B5EF4-FFF2-40B4-BE49-F238E27FC236}">
                <a16:creationId xmlns:a16="http://schemas.microsoft.com/office/drawing/2014/main" id="{1AB155FD-A694-477D-AEBE-F9292669F077}"/>
              </a:ext>
            </a:extLst>
          </p:cNvPr>
          <p:cNvSpPr/>
          <p:nvPr/>
        </p:nvSpPr>
        <p:spPr>
          <a:xfrm>
            <a:off x="3685547" y="2391407"/>
            <a:ext cx="2215167" cy="48939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BC3E22-467D-4D55-9471-3298DBC21533}"/>
              </a:ext>
            </a:extLst>
          </p:cNvPr>
          <p:cNvSpPr/>
          <p:nvPr/>
        </p:nvSpPr>
        <p:spPr>
          <a:xfrm>
            <a:off x="846398" y="5817338"/>
            <a:ext cx="11086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200" b="1" dirty="0"/>
              <a:t>EL SECRETO DE LAS ESTRUCTURAS ES ROMPER INERCIA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6B5320-D242-40FE-B3B5-24085C5DF7C6}"/>
              </a:ext>
            </a:extLst>
          </p:cNvPr>
          <p:cNvSpPr txBox="1"/>
          <p:nvPr/>
        </p:nvSpPr>
        <p:spPr>
          <a:xfrm>
            <a:off x="598416" y="3725392"/>
            <a:ext cx="610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Peso sobre la losa (mampostería)=180kg/m2 (pesada)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DAC5325-CFBA-4734-8F02-7B6E433225D6}"/>
              </a:ext>
            </a:extLst>
          </p:cNvPr>
          <p:cNvSpPr txBox="1"/>
          <p:nvPr/>
        </p:nvSpPr>
        <p:spPr>
          <a:xfrm>
            <a:off x="674716" y="4643319"/>
            <a:ext cx="610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Peso sobre la losa (mampostería)=90kg/m2 (liviana)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52A25E8-B326-4AE3-BE4A-00A6A49382EE}"/>
              </a:ext>
            </a:extLst>
          </p:cNvPr>
          <p:cNvSpPr/>
          <p:nvPr/>
        </p:nvSpPr>
        <p:spPr>
          <a:xfrm>
            <a:off x="7756527" y="3763384"/>
            <a:ext cx="231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dirty="0"/>
              <a:t>Total Cm =620kg/m2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973A382-DE0D-4163-A6D4-D17138CDBC12}"/>
              </a:ext>
            </a:extLst>
          </p:cNvPr>
          <p:cNvSpPr/>
          <p:nvPr/>
        </p:nvSpPr>
        <p:spPr>
          <a:xfrm>
            <a:off x="7756527" y="4643319"/>
            <a:ext cx="231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dirty="0"/>
              <a:t>Total Cm =530kg/m2</a:t>
            </a:r>
          </a:p>
        </p:txBody>
      </p:sp>
    </p:spTree>
    <p:extLst>
      <p:ext uri="{BB962C8B-B14F-4D97-AF65-F5344CB8AC3E}">
        <p14:creationId xmlns:p14="http://schemas.microsoft.com/office/powerpoint/2010/main" val="45287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E9ED4E8-3F50-4F6D-9697-5349536CD85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5995" y="0"/>
            <a:ext cx="1089191" cy="1234181"/>
          </a:xfrm>
          <a:prstGeom prst="rect">
            <a:avLst/>
          </a:prstGeom>
          <a:noFill/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1A49AEB-5A62-4489-9DEB-F1AA23F5990A}"/>
              </a:ext>
            </a:extLst>
          </p:cNvPr>
          <p:cNvSpPr txBox="1"/>
          <p:nvPr/>
        </p:nvSpPr>
        <p:spPr>
          <a:xfrm>
            <a:off x="7685503" y="355480"/>
            <a:ext cx="2021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Carga viva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100647-5448-4AF7-80AD-8B82C7A6D1A8}"/>
              </a:ext>
            </a:extLst>
          </p:cNvPr>
          <p:cNvSpPr/>
          <p:nvPr/>
        </p:nvSpPr>
        <p:spPr>
          <a:xfrm>
            <a:off x="6679867" y="1583326"/>
            <a:ext cx="5303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dirty="0"/>
              <a:t>Total Cv =200kg/m2; para vivienda para dos pisos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F62FC1F-6943-4B31-9155-3D06C13E4CC1}"/>
              </a:ext>
            </a:extLst>
          </p:cNvPr>
          <p:cNvSpPr/>
          <p:nvPr/>
        </p:nvSpPr>
        <p:spPr>
          <a:xfrm>
            <a:off x="7497398" y="2301803"/>
            <a:ext cx="36681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dirty="0"/>
              <a:t>Total Cv =480kg/m2; para bodega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7CC44E8-B337-FFD3-0FD3-3310DFAA0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09" y="233525"/>
            <a:ext cx="5964079" cy="444627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0FAB70E-98DD-79B7-BA29-5AB5AD9C0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99" y="5028945"/>
            <a:ext cx="6981511" cy="182905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80C9BCB-ADD1-CAB9-FC45-AE7D5303C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676" y="2847416"/>
            <a:ext cx="5725324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6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0B5CC-9941-3C6D-CCED-042A2E85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762418-7D21-FFC6-C6F9-543D899451F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23819"/>
            <a:ext cx="1089191" cy="1234181"/>
          </a:xfrm>
          <a:prstGeom prst="rect">
            <a:avLst/>
          </a:prstGeom>
          <a:noFill/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881B195-86BF-5D5B-6995-0CE45A16E428}"/>
              </a:ext>
            </a:extLst>
          </p:cNvPr>
          <p:cNvSpPr txBox="1"/>
          <p:nvPr/>
        </p:nvSpPr>
        <p:spPr>
          <a:xfrm>
            <a:off x="1609453" y="5596860"/>
            <a:ext cx="2980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CARGAS BODEGA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340757-5E69-1772-5402-97DB0F330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734" y="0"/>
            <a:ext cx="7860266" cy="16069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873D2C4-A043-3932-BFC7-527145A30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316" y="4687337"/>
            <a:ext cx="6737684" cy="198389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6CBDC52-36BF-B0F7-136E-B6F3B7ABB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117" y="1960062"/>
            <a:ext cx="6432884" cy="246664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B9FC987-0125-C0D2-DC50-355C076E5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092" y="2406312"/>
            <a:ext cx="5045224" cy="192238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CB8951B-2223-3816-F1B5-158088B584DD}"/>
              </a:ext>
            </a:extLst>
          </p:cNvPr>
          <p:cNvSpPr txBox="1"/>
          <p:nvPr/>
        </p:nvSpPr>
        <p:spPr>
          <a:xfrm>
            <a:off x="262240" y="464884"/>
            <a:ext cx="40694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ANALISIS Y CRITERIOS DE DISEÑO DE VIGA </a:t>
            </a:r>
          </a:p>
        </p:txBody>
      </p:sp>
    </p:spTree>
    <p:extLst>
      <p:ext uri="{BB962C8B-B14F-4D97-AF65-F5344CB8AC3E}">
        <p14:creationId xmlns:p14="http://schemas.microsoft.com/office/powerpoint/2010/main" val="616223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1747C76-0B38-42FC-A004-92CB1440A62D}"/>
                  </a:ext>
                </a:extLst>
              </p:cNvPr>
              <p:cNvSpPr txBox="1"/>
              <p:nvPr/>
            </p:nvSpPr>
            <p:spPr>
              <a:xfrm>
                <a:off x="8532081" y="1140498"/>
                <a:ext cx="24122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C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s-MX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s-EC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0,48 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1747C76-0B38-42FC-A004-92CB1440A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2081" y="1140498"/>
                <a:ext cx="2412228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CCCDD82-19DB-49BE-BDA8-351E962E5717}"/>
                  </a:ext>
                </a:extLst>
              </p:cNvPr>
              <p:cNvSpPr txBox="1"/>
              <p:nvPr/>
            </p:nvSpPr>
            <p:spPr>
              <a:xfrm>
                <a:off x="7808701" y="2324307"/>
                <a:ext cx="42972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C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s-MX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s-EC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(0,44+0,18)  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CCCDD82-19DB-49BE-BDA8-351E962E5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701" y="2324307"/>
                <a:ext cx="4297299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EF56BAD-1257-4621-A3CD-64DC4F9F28E5}"/>
                  </a:ext>
                </a:extLst>
              </p:cNvPr>
              <p:cNvSpPr txBox="1"/>
              <p:nvPr/>
            </p:nvSpPr>
            <p:spPr>
              <a:xfrm>
                <a:off x="8532081" y="3435957"/>
                <a:ext cx="30695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C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s-MX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s-EC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0,62  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EF56BAD-1257-4621-A3CD-64DC4F9F2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2081" y="3435957"/>
                <a:ext cx="3069520" cy="461665"/>
              </a:xfrm>
              <a:prstGeom prst="rect">
                <a:avLst/>
              </a:prstGeom>
              <a:blipFill>
                <a:blip r:embed="rId4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A22C2C3-E315-4013-B1ED-73C0E12803F8}"/>
                  </a:ext>
                </a:extLst>
              </p:cNvPr>
              <p:cNvSpPr txBox="1"/>
              <p:nvPr/>
            </p:nvSpPr>
            <p:spPr>
              <a:xfrm>
                <a:off x="7916625" y="4547607"/>
                <a:ext cx="40814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C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s-EC" sz="24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  <m:r>
                        <a:rPr lang="es-EC" sz="2400" b="0" i="0"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C" sz="2400" b="0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EC" sz="24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s-EC" sz="2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r>
                        <a:rPr lang="es-EC" sz="2400" b="0" i="0">
                          <a:latin typeface="Cambria Math" panose="02040503050406030204" pitchFamily="18" charset="0"/>
                        </a:rPr>
                        <m:t>+1.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s-EC" sz="2400" b="0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EC" sz="24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s-EC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A22C2C3-E315-4013-B1ED-73C0E1280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625" y="4547607"/>
                <a:ext cx="4081449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DC7686A-BA09-474E-92D0-769595D1AFC3}"/>
                  </a:ext>
                </a:extLst>
              </p:cNvPr>
              <p:cNvSpPr txBox="1"/>
              <p:nvPr/>
            </p:nvSpPr>
            <p:spPr>
              <a:xfrm>
                <a:off x="3447406" y="5898602"/>
                <a:ext cx="849811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C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s-EC" sz="3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</m:sSub>
                    <m:r>
                      <a:rPr lang="es-EC" sz="3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</m:t>
                    </m:r>
                    <m:r>
                      <a:rPr lang="es-MX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C" sz="3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s-MX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0,62</m:t>
                    </m:r>
                    <m:r>
                      <a:rPr lang="es-EC" sz="3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+1.</m:t>
                    </m:r>
                    <m:r>
                      <a:rPr lang="es-MX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s-EC" sz="3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s-MX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0,48=</m:t>
                    </m:r>
                  </m:oMath>
                </a14:m>
                <a:r>
                  <a:rPr lang="es-MX" sz="3600" dirty="0"/>
                  <a:t> </a:t>
                </a:r>
                <a14:m>
                  <m:oMath xmlns:m="http://schemas.openxmlformats.org/officeDocument/2006/math"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sz="3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sz="3600" b="0" i="1" smtClean="0">
                        <a:latin typeface="Cambria Math" panose="02040503050406030204" pitchFamily="18" charset="0"/>
                      </a:rPr>
                      <m:t>51</m:t>
                    </m:r>
                    <m:r>
                      <a:rPr lang="es-MX" sz="36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MX" sz="3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MX" sz="36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s-MX" sz="36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MX" sz="36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s-EC" sz="3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DC7686A-BA09-474E-92D0-769595D1A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406" y="5898602"/>
                <a:ext cx="8498116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 descr="Un conjunto de imágenes de una persona&#10;&#10;El contenido generado por IA puede ser incorrecto.">
            <a:extLst>
              <a:ext uri="{FF2B5EF4-FFF2-40B4-BE49-F238E27FC236}">
                <a16:creationId xmlns:a16="http://schemas.microsoft.com/office/drawing/2014/main" id="{D4AA92DD-0F56-7251-F6EA-25E977CB35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691" y="1240051"/>
            <a:ext cx="5980164" cy="354324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6E8BAA6-4883-3751-785B-E3DE77F86A59}"/>
              </a:ext>
            </a:extLst>
          </p:cNvPr>
          <p:cNvSpPr txBox="1"/>
          <p:nvPr/>
        </p:nvSpPr>
        <p:spPr>
          <a:xfrm>
            <a:off x="2845738" y="3328310"/>
            <a:ext cx="2200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BODEGA</a:t>
            </a:r>
            <a:endParaRPr lang="es-EC" sz="3600" dirty="0"/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AE7654D8-66D6-2A36-09E8-9642F7EBA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6845" y="3600780"/>
            <a:ext cx="1130423" cy="1459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7655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E74BE5-5BD0-482D-9800-32221A2BFB51}"/>
              </a:ext>
            </a:extLst>
          </p:cNvPr>
          <p:cNvSpPr txBox="1"/>
          <p:nvPr/>
        </p:nvSpPr>
        <p:spPr>
          <a:xfrm>
            <a:off x="1258547" y="273985"/>
            <a:ext cx="96749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 ( Momento estático), fundamento para calcular el momento de diseño.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0DDFBF1-88F6-4BB1-9103-D09BB07E2970}"/>
                  </a:ext>
                </a:extLst>
              </p:cNvPr>
              <p:cNvSpPr txBox="1"/>
              <p:nvPr/>
            </p:nvSpPr>
            <p:spPr>
              <a:xfrm>
                <a:off x="807411" y="2544302"/>
                <a:ext cx="2774201" cy="678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MX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C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,10+5,</m:t>
                          </m:r>
                          <m:r>
                            <a:rPr lang="es-EC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MX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C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0DDFBF1-88F6-4BB1-9103-D09BB07E2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11" y="2544302"/>
                <a:ext cx="2774201" cy="6785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5419128-47B9-4D62-A285-36BDABDD7EE4}"/>
                  </a:ext>
                </a:extLst>
              </p:cNvPr>
              <p:cNvSpPr txBox="1"/>
              <p:nvPr/>
            </p:nvSpPr>
            <p:spPr>
              <a:xfrm>
                <a:off x="5589419" y="5445555"/>
                <a:ext cx="5967538" cy="877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C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𝐌</m:t>
                    </m:r>
                    <m:r>
                      <a:rPr lang="es-MX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r>
                      <a:rPr lang="es-EC" sz="3200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C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C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𝐋𝐨𝐧𝐠𝐢𝐭𝐮𝐝</m:t>
                            </m:r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𝐭𝐫𝐚𝐯𝐞</m:t>
                            </m:r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𝐋𝐯𝐢𝐠𝐚</m:t>
                            </m:r>
                          </m:e>
                          <m:sup>
                            <m:r>
                              <a:rPr lang="es-EC" sz="32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s-EC" sz="32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s-EC" sz="3200" b="1" dirty="0">
                    <a:solidFill>
                      <a:schemeClr val="tx1"/>
                    </a:solidFill>
                  </a:rPr>
                  <a:t>*w peso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5419128-47B9-4D62-A285-36BDABDD7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419" y="5445555"/>
                <a:ext cx="5967538" cy="877484"/>
              </a:xfrm>
              <a:prstGeom prst="rect">
                <a:avLst/>
              </a:prstGeom>
              <a:blipFill>
                <a:blip r:embed="rId3"/>
                <a:stretch>
                  <a:fillRect r="-1430" b="-9028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97CD49A-4218-4D1B-BD74-D572798B7D7A}"/>
              </a:ext>
            </a:extLst>
          </p:cNvPr>
          <p:cNvCxnSpPr>
            <a:cxnSpLocks/>
          </p:cNvCxnSpPr>
          <p:nvPr/>
        </p:nvCxnSpPr>
        <p:spPr>
          <a:xfrm>
            <a:off x="9539374" y="3278613"/>
            <a:ext cx="2221231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3229461-F2E8-44FC-AD2D-6DDB42954603}"/>
              </a:ext>
            </a:extLst>
          </p:cNvPr>
          <p:cNvSpPr txBox="1"/>
          <p:nvPr/>
        </p:nvSpPr>
        <p:spPr>
          <a:xfrm>
            <a:off x="9539374" y="2176472"/>
            <a:ext cx="121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L1</a:t>
            </a:r>
            <a:r>
              <a:rPr lang="es-ES" dirty="0"/>
              <a:t>=5,50m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2AEAF5A-76E8-460F-8D7A-DA1430957873}"/>
              </a:ext>
            </a:extLst>
          </p:cNvPr>
          <p:cNvSpPr txBox="1"/>
          <p:nvPr/>
        </p:nvSpPr>
        <p:spPr>
          <a:xfrm>
            <a:off x="7887142" y="3412728"/>
            <a:ext cx="160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Lt4</a:t>
            </a:r>
            <a:r>
              <a:rPr lang="es-ES" dirty="0"/>
              <a:t>=6,10m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AD48681-EA8B-4D01-A1E6-C658FC5673B9}"/>
              </a:ext>
            </a:extLst>
          </p:cNvPr>
          <p:cNvSpPr txBox="1"/>
          <p:nvPr/>
        </p:nvSpPr>
        <p:spPr>
          <a:xfrm>
            <a:off x="7855338" y="2786790"/>
            <a:ext cx="151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Lt3</a:t>
            </a:r>
            <a:r>
              <a:rPr lang="es-ES" dirty="0"/>
              <a:t>=5,00m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21F979-481C-4612-92F6-01B0A415121A}"/>
              </a:ext>
            </a:extLst>
          </p:cNvPr>
          <p:cNvSpPr txBox="1"/>
          <p:nvPr/>
        </p:nvSpPr>
        <p:spPr>
          <a:xfrm>
            <a:off x="10865890" y="2205965"/>
            <a:ext cx="121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L2</a:t>
            </a:r>
            <a:r>
              <a:rPr lang="es-ES" dirty="0"/>
              <a:t>=6,30m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1E45215-C611-4DA1-A198-61321A130CFA}"/>
              </a:ext>
            </a:extLst>
          </p:cNvPr>
          <p:cNvCxnSpPr>
            <a:cxnSpLocks/>
          </p:cNvCxnSpPr>
          <p:nvPr/>
        </p:nvCxnSpPr>
        <p:spPr>
          <a:xfrm>
            <a:off x="9574220" y="3941404"/>
            <a:ext cx="2221231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BE6C3E1-101C-4F44-8A8E-A633E8A4A59B}"/>
              </a:ext>
            </a:extLst>
          </p:cNvPr>
          <p:cNvCxnSpPr>
            <a:cxnSpLocks/>
          </p:cNvCxnSpPr>
          <p:nvPr/>
        </p:nvCxnSpPr>
        <p:spPr>
          <a:xfrm>
            <a:off x="9539374" y="2674809"/>
            <a:ext cx="0" cy="1237468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4996BF3-C913-4F48-BC67-B7378D1970C4}"/>
              </a:ext>
            </a:extLst>
          </p:cNvPr>
          <p:cNvCxnSpPr>
            <a:cxnSpLocks/>
          </p:cNvCxnSpPr>
          <p:nvPr/>
        </p:nvCxnSpPr>
        <p:spPr>
          <a:xfrm>
            <a:off x="9574221" y="2674809"/>
            <a:ext cx="2221231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B783866-E17D-4D47-BB74-73785526FD83}"/>
              </a:ext>
            </a:extLst>
          </p:cNvPr>
          <p:cNvCxnSpPr>
            <a:cxnSpLocks/>
          </p:cNvCxnSpPr>
          <p:nvPr/>
        </p:nvCxnSpPr>
        <p:spPr>
          <a:xfrm>
            <a:off x="10684835" y="2703936"/>
            <a:ext cx="0" cy="1237468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1617912-1655-4489-A4C1-D5E39E6C7840}"/>
              </a:ext>
            </a:extLst>
          </p:cNvPr>
          <p:cNvCxnSpPr>
            <a:cxnSpLocks/>
          </p:cNvCxnSpPr>
          <p:nvPr/>
        </p:nvCxnSpPr>
        <p:spPr>
          <a:xfrm>
            <a:off x="11801551" y="2674809"/>
            <a:ext cx="0" cy="1237468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92334F6-7B09-4724-8961-40D9962556B7}"/>
              </a:ext>
            </a:extLst>
          </p:cNvPr>
          <p:cNvSpPr/>
          <p:nvPr/>
        </p:nvSpPr>
        <p:spPr>
          <a:xfrm>
            <a:off x="9539374" y="2703936"/>
            <a:ext cx="1110606" cy="51895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4E8F888-558E-4418-9318-C55134C669B6}"/>
              </a:ext>
            </a:extLst>
          </p:cNvPr>
          <p:cNvSpPr/>
          <p:nvPr/>
        </p:nvSpPr>
        <p:spPr>
          <a:xfrm>
            <a:off x="10726190" y="2711981"/>
            <a:ext cx="1058603" cy="51895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7BCE3A7-DEA5-4124-9A11-3E30B83CE5C0}"/>
              </a:ext>
            </a:extLst>
          </p:cNvPr>
          <p:cNvSpPr/>
          <p:nvPr/>
        </p:nvSpPr>
        <p:spPr>
          <a:xfrm>
            <a:off x="9582803" y="3312371"/>
            <a:ext cx="1058603" cy="570046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B8CE941-A188-4C3B-AD83-0AEDB2609186}"/>
              </a:ext>
            </a:extLst>
          </p:cNvPr>
          <p:cNvSpPr/>
          <p:nvPr/>
        </p:nvSpPr>
        <p:spPr>
          <a:xfrm>
            <a:off x="10719691" y="3293542"/>
            <a:ext cx="1058603" cy="618367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DE4D1B76-5F11-4A7C-8731-9193151EB8E2}"/>
                  </a:ext>
                </a:extLst>
              </p:cNvPr>
              <p:cNvSpPr txBox="1"/>
              <p:nvPr/>
            </p:nvSpPr>
            <p:spPr>
              <a:xfrm>
                <a:off x="3616467" y="2607471"/>
                <a:ext cx="205375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MX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C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,55</m:t>
                      </m:r>
                      <m:r>
                        <a:rPr lang="es-EC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C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EC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DE4D1B76-5F11-4A7C-8731-9193151EB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467" y="2607471"/>
                <a:ext cx="205375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A75B993D-EBAD-6A44-DD12-BD3BDB21CD08}"/>
              </a:ext>
            </a:extLst>
          </p:cNvPr>
          <p:cNvSpPr txBox="1"/>
          <p:nvPr/>
        </p:nvSpPr>
        <p:spPr>
          <a:xfrm>
            <a:off x="414818" y="1504455"/>
            <a:ext cx="45273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 = Longitud transversal.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5">
            <a:extLst>
              <a:ext uri="{FF2B5EF4-FFF2-40B4-BE49-F238E27FC236}">
                <a16:creationId xmlns:a16="http://schemas.microsoft.com/office/drawing/2014/main" id="{96015CEC-4CB1-DFEB-C5FC-265A09C9A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79490" y="2963411"/>
            <a:ext cx="1130423" cy="1459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D163006A-320E-C15E-D1AE-95BB8DF957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69" y="3714330"/>
            <a:ext cx="4934844" cy="2742827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BBF2660F-5153-2E9E-59DD-638C7B61341D}"/>
              </a:ext>
            </a:extLst>
          </p:cNvPr>
          <p:cNvSpPr/>
          <p:nvPr/>
        </p:nvSpPr>
        <p:spPr>
          <a:xfrm>
            <a:off x="2695903" y="5218386"/>
            <a:ext cx="2756510" cy="123877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1" name="Cubo 30">
            <a:extLst>
              <a:ext uri="{FF2B5EF4-FFF2-40B4-BE49-F238E27FC236}">
                <a16:creationId xmlns:a16="http://schemas.microsoft.com/office/drawing/2014/main" id="{1365F187-CD03-B449-BF4A-3713044ED88E}"/>
              </a:ext>
            </a:extLst>
          </p:cNvPr>
          <p:cNvSpPr/>
          <p:nvPr/>
        </p:nvSpPr>
        <p:spPr>
          <a:xfrm>
            <a:off x="10684835" y="3231315"/>
            <a:ext cx="1092528" cy="134112"/>
          </a:xfrm>
          <a:prstGeom prst="cub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22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6A89E-2F7A-67AF-D5A5-A79447A2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FD4A8978-C48D-D8B2-2AA8-208B920E2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C80D5C-AFAE-C7AD-80A1-74E5125CC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6AA1B5C-45DC-4DB1-CF4E-9D3D112253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14CCC26F-F330-4040-83E0-BD3ED0D8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889DC35C-1EFA-7AD0-4663-BD86EB399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04CB5D22-5EA8-4A1C-2342-EA75268BA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49" name="Rectangle 27">
              <a:extLst>
                <a:ext uri="{FF2B5EF4-FFF2-40B4-BE49-F238E27FC236}">
                  <a16:creationId xmlns:a16="http://schemas.microsoft.com/office/drawing/2014/main" id="{79DABD4D-55B7-25DE-5CD6-93545CC65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089EE3F0-A0FA-85C8-293E-0ACC5C6AA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51" name="Rectangle 29">
              <a:extLst>
                <a:ext uri="{FF2B5EF4-FFF2-40B4-BE49-F238E27FC236}">
                  <a16:creationId xmlns:a16="http://schemas.microsoft.com/office/drawing/2014/main" id="{F091D299-0FD4-BF4E-1EB3-FB9B06853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AD3632FE-6BF2-288C-68A2-8AA4B068D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632AA017-D1F3-FC67-AB8C-A649A988F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63867C82-E09D-D359-8037-BBE13E0ADDFA}"/>
              </a:ext>
            </a:extLst>
          </p:cNvPr>
          <p:cNvSpPr txBox="1"/>
          <p:nvPr/>
        </p:nvSpPr>
        <p:spPr>
          <a:xfrm>
            <a:off x="539449" y="2056302"/>
            <a:ext cx="4088190" cy="23690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latin typeface="+mj-lt"/>
                <a:ea typeface="+mj-ea"/>
                <a:cs typeface="+mj-cs"/>
              </a:rPr>
              <a:t>DATOS DEL SCANNER – PARA ESTABLECER LA RELACIÓN DE LA DEMANDA Y LA GEOMETRÍA.</a:t>
            </a:r>
            <a:endParaRPr lang="en-US" sz="3000" dirty="0">
              <a:latin typeface="+mj-lt"/>
              <a:ea typeface="+mj-ea"/>
              <a:cs typeface="+mj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D3EF533-D986-0B96-C610-C6F420919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915BCF-08E7-5186-DE5F-60A77F04C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23">
            <a:extLst>
              <a:ext uri="{FF2B5EF4-FFF2-40B4-BE49-F238E27FC236}">
                <a16:creationId xmlns:a16="http://schemas.microsoft.com/office/drawing/2014/main" id="{707C1DE4-7152-8149-6219-071EFB44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4EDFDA58-A8AC-0B19-1047-E6AA0EFC1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3" name="Isosceles Triangle 24">
            <a:extLst>
              <a:ext uri="{FF2B5EF4-FFF2-40B4-BE49-F238E27FC236}">
                <a16:creationId xmlns:a16="http://schemas.microsoft.com/office/drawing/2014/main" id="{34343CD0-CFAF-5A74-E7EF-63D565840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5" name="Rectangle 27">
            <a:extLst>
              <a:ext uri="{FF2B5EF4-FFF2-40B4-BE49-F238E27FC236}">
                <a16:creationId xmlns:a16="http://schemas.microsoft.com/office/drawing/2014/main" id="{B0E777FC-04A5-8A8E-4F79-A19BDFEFA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7" name="Rectangle 28">
            <a:extLst>
              <a:ext uri="{FF2B5EF4-FFF2-40B4-BE49-F238E27FC236}">
                <a16:creationId xmlns:a16="http://schemas.microsoft.com/office/drawing/2014/main" id="{2FBD7DFD-673E-C725-761B-599234245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9" name="Rectangle 29">
            <a:extLst>
              <a:ext uri="{FF2B5EF4-FFF2-40B4-BE49-F238E27FC236}">
                <a16:creationId xmlns:a16="http://schemas.microsoft.com/office/drawing/2014/main" id="{9C16A838-808C-9F84-D6F6-235A6E36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71" name="Isosceles Triangle 29">
            <a:extLst>
              <a:ext uri="{FF2B5EF4-FFF2-40B4-BE49-F238E27FC236}">
                <a16:creationId xmlns:a16="http://schemas.microsoft.com/office/drawing/2014/main" id="{2F06144C-0FCD-7627-3E50-9C9F92E3B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6855F1-4FED-6E2D-6140-82619A8DF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257" y="-8467"/>
            <a:ext cx="6499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21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C87B6-8F31-D406-540E-BB95BCC39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49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51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9762F9CE-61CA-9AB2-F885-BDD7C58D71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76" r="2" b="2"/>
          <a:stretch>
            <a:fillRect/>
          </a:stretch>
        </p:blipFill>
        <p:spPr>
          <a:xfrm>
            <a:off x="4269855" y="0"/>
            <a:ext cx="7922145" cy="685800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AA94BFA-06BE-B86C-BC19-E16EBF9B319A}"/>
              </a:ext>
            </a:extLst>
          </p:cNvPr>
          <p:cNvSpPr txBox="1"/>
          <p:nvPr/>
        </p:nvSpPr>
        <p:spPr>
          <a:xfrm>
            <a:off x="539449" y="2056302"/>
            <a:ext cx="4088190" cy="23690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DATOS DEL SCANNER – PARA ESTABLECER LA RELACIÓN DE LA DEMANDA Y LA GEOMETRÍA.</a:t>
            </a:r>
            <a:endParaRPr lang="en-US" sz="30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3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5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7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9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71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59266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042A9-E684-0777-6FAD-1EA992F2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0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2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3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4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5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6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7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430683FF-BEA5-94EB-6CC7-A43147FD5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62" y="1247732"/>
            <a:ext cx="4650004" cy="4371003"/>
          </a:xfrm>
          <a:prstGeom prst="rect">
            <a:avLst/>
          </a:prstGeom>
        </p:spPr>
      </p:pic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183A4D4-EAC7-47F2-D276-8B64A6208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367" y="1503481"/>
            <a:ext cx="4650004" cy="385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22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BE86EA4-C4F1-4465-B306-7A2BC228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8279268-DB29-43BE-B57C-14977EAC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8FA53C0-C1EF-4611-BAB3-65EEB16AA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81CDACFC-DD8A-4CC0-B7FC-6030FC353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0269F267-73D4-4CC3-BEC7-73335654D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48F13D-B2D7-4EB8-9CA7-59243637C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A82405B3-5A67-4DA2-8EDA-7AB65A8B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7508BC7B-3BD2-4D96-A46E-82988222A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4298D07C-2287-4B93-9041-935144DE1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0F6BC886-C125-4903-8C2A-6FB687400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C9D0B38F-2E02-4E85-99EE-73595E7C8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12192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 descr="Una cortina de color verde&#10;&#10;El contenido generado por IA puede ser incorrecto.">
            <a:extLst>
              <a:ext uri="{FF2B5EF4-FFF2-40B4-BE49-F238E27FC236}">
                <a16:creationId xmlns:a16="http://schemas.microsoft.com/office/drawing/2014/main" id="{964778F7-121C-741D-B331-DDCE2CD64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442" y="-1"/>
            <a:ext cx="2562736" cy="406750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F008996-FFC4-D26E-C7D0-A6052989A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569" y="4201777"/>
            <a:ext cx="8447255" cy="266469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9BF211E-18A7-44F9-0391-18FB68055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-8467"/>
            <a:ext cx="3794254" cy="6840654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7A02472-C3F4-D7E9-28A3-FC029296E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819" y="112295"/>
            <a:ext cx="5712449" cy="368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19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371F5-449C-2C60-A0D4-7A2A73540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81E809D8-87BE-38DE-1226-8F35D288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8DB8D22-6980-6949-3C89-BEF3D43EF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D8ADD52-AE35-06FF-2668-DEFED4C13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9B4C9C3A-8FFE-E289-3553-374C3FB95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0" name="Rectangle 25">
              <a:extLst>
                <a:ext uri="{FF2B5EF4-FFF2-40B4-BE49-F238E27FC236}">
                  <a16:creationId xmlns:a16="http://schemas.microsoft.com/office/drawing/2014/main" id="{66778FB0-3E9B-261A-4E6D-288DE7379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A0B04619-026A-27B3-EC39-05E6EFBAA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2" name="Rectangle 27">
              <a:extLst>
                <a:ext uri="{FF2B5EF4-FFF2-40B4-BE49-F238E27FC236}">
                  <a16:creationId xmlns:a16="http://schemas.microsoft.com/office/drawing/2014/main" id="{E04D5A9B-2415-FF9B-3BAC-52912F669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3" name="Rectangle 28">
              <a:extLst>
                <a:ext uri="{FF2B5EF4-FFF2-40B4-BE49-F238E27FC236}">
                  <a16:creationId xmlns:a16="http://schemas.microsoft.com/office/drawing/2014/main" id="{0C8F1E55-C717-6C9E-0E16-7660D62C8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4" name="Rectangle 29">
              <a:extLst>
                <a:ext uri="{FF2B5EF4-FFF2-40B4-BE49-F238E27FC236}">
                  <a16:creationId xmlns:a16="http://schemas.microsoft.com/office/drawing/2014/main" id="{A8B98605-67F6-0687-932B-31C12150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E0597E53-BB76-5E9E-88A2-D48B6DF572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B585A767-859D-B75B-359F-001BF93E0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100EA087-E0E3-B820-82C0-D2EC1690C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DC0D489-0F85-D201-5E57-5C341B521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ED0BF0C-4499-AB44-0775-514CF1D99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23">
              <a:extLst>
                <a:ext uri="{FF2B5EF4-FFF2-40B4-BE49-F238E27FC236}">
                  <a16:creationId xmlns:a16="http://schemas.microsoft.com/office/drawing/2014/main" id="{63A49052-9949-3C95-E479-4E6698C38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8DD1E603-70D1-0BBC-F57E-B50C01538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79426728-511A-8FF7-80BB-AD5640C0E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5" name="Rectangle 27">
              <a:extLst>
                <a:ext uri="{FF2B5EF4-FFF2-40B4-BE49-F238E27FC236}">
                  <a16:creationId xmlns:a16="http://schemas.microsoft.com/office/drawing/2014/main" id="{AF6394BC-D006-A70E-9FB4-272BADE4F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6" name="Rectangle 28">
              <a:extLst>
                <a:ext uri="{FF2B5EF4-FFF2-40B4-BE49-F238E27FC236}">
                  <a16:creationId xmlns:a16="http://schemas.microsoft.com/office/drawing/2014/main" id="{2F9FA7C0-5CDC-C5EC-C732-A7DFF5065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7" name="Rectangle 29">
              <a:extLst>
                <a:ext uri="{FF2B5EF4-FFF2-40B4-BE49-F238E27FC236}">
                  <a16:creationId xmlns:a16="http://schemas.microsoft.com/office/drawing/2014/main" id="{41EBAF80-AD30-BB09-E631-FDDA8581A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C46FCBAF-CB57-B33A-D192-2A4B33056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8A03BB5E-0F65-03C5-2E41-0495AE349F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D6B1466E-4611-7CE7-9EA9-AB0A8C870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A21916A-38F4-0360-64CE-2E999E434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bo 5">
            <a:extLst>
              <a:ext uri="{FF2B5EF4-FFF2-40B4-BE49-F238E27FC236}">
                <a16:creationId xmlns:a16="http://schemas.microsoft.com/office/drawing/2014/main" id="{53BB2680-3F4C-0164-58A5-582598819133}"/>
              </a:ext>
            </a:extLst>
          </p:cNvPr>
          <p:cNvSpPr/>
          <p:nvPr/>
        </p:nvSpPr>
        <p:spPr>
          <a:xfrm rot="5400000">
            <a:off x="5210092" y="2814437"/>
            <a:ext cx="3988675" cy="1008993"/>
          </a:xfrm>
          <a:prstGeom prst="cube">
            <a:avLst>
              <a:gd name="adj" fmla="val 363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" name="Cubo 4">
            <a:extLst>
              <a:ext uri="{FF2B5EF4-FFF2-40B4-BE49-F238E27FC236}">
                <a16:creationId xmlns:a16="http://schemas.microsoft.com/office/drawing/2014/main" id="{7B60E5AD-A802-6C7C-9FC3-F7EB3D992EB9}"/>
              </a:ext>
            </a:extLst>
          </p:cNvPr>
          <p:cNvSpPr/>
          <p:nvPr/>
        </p:nvSpPr>
        <p:spPr>
          <a:xfrm>
            <a:off x="7336988" y="2112247"/>
            <a:ext cx="3988675" cy="1008993"/>
          </a:xfrm>
          <a:prstGeom prst="cube">
            <a:avLst>
              <a:gd name="adj" fmla="val 363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6A52912-8AE7-ADC9-2AB5-2321C53507EF}"/>
              </a:ext>
            </a:extLst>
          </p:cNvPr>
          <p:cNvSpPr txBox="1"/>
          <p:nvPr/>
        </p:nvSpPr>
        <p:spPr>
          <a:xfrm>
            <a:off x="3729395" y="741137"/>
            <a:ext cx="7699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SECCIÓN DE LA VIGA ES 30 (BASE) X 35 (ALTURA)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036FE5C-8D04-50A6-43AB-F0A8D5FE941A}"/>
              </a:ext>
            </a:extLst>
          </p:cNvPr>
          <p:cNvSpPr txBox="1"/>
          <p:nvPr/>
        </p:nvSpPr>
        <p:spPr>
          <a:xfrm>
            <a:off x="10539111" y="2004636"/>
            <a:ext cx="708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5644A84-95C4-1B6F-FA52-0CE029956592}"/>
              </a:ext>
            </a:extLst>
          </p:cNvPr>
          <p:cNvSpPr txBox="1"/>
          <p:nvPr/>
        </p:nvSpPr>
        <p:spPr>
          <a:xfrm>
            <a:off x="10254035" y="2567940"/>
            <a:ext cx="708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B107550-634B-B1F1-50D2-CDA8115F646E}"/>
                  </a:ext>
                </a:extLst>
              </p:cNvPr>
              <p:cNvSpPr txBox="1"/>
              <p:nvPr/>
            </p:nvSpPr>
            <p:spPr>
              <a:xfrm>
                <a:off x="5589419" y="5445555"/>
                <a:ext cx="5967538" cy="877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C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𝐌</m:t>
                    </m:r>
                    <m:r>
                      <a:rPr lang="es-MX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r>
                      <a:rPr lang="es-EC" sz="3200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C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C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𝐋𝐨𝐧𝐠𝐢𝐭𝐮𝐝</m:t>
                            </m:r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𝐭𝐫𝐚𝐯𝐞</m:t>
                            </m:r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s-MX" sz="32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𝐋𝐯𝐢𝐠𝐚</m:t>
                            </m:r>
                          </m:e>
                          <m:sup>
                            <m:r>
                              <a:rPr lang="es-EC" sz="32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s-EC" sz="32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s-EC" sz="3200" b="1" dirty="0">
                    <a:solidFill>
                      <a:schemeClr val="tx1"/>
                    </a:solidFill>
                  </a:rPr>
                  <a:t>*w peso</a:t>
                </a: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B107550-634B-B1F1-50D2-CDA8115F6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419" y="5445555"/>
                <a:ext cx="5967538" cy="877484"/>
              </a:xfrm>
              <a:prstGeom prst="rect">
                <a:avLst/>
              </a:prstGeom>
              <a:blipFill>
                <a:blip r:embed="rId2"/>
                <a:stretch>
                  <a:fillRect r="-1430" b="-9028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>
            <a:extLst>
              <a:ext uri="{FF2B5EF4-FFF2-40B4-BE49-F238E27FC236}">
                <a16:creationId xmlns:a16="http://schemas.microsoft.com/office/drawing/2014/main" id="{5479D9CB-BC24-1588-7C44-62B7F27E5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75" y="1421815"/>
            <a:ext cx="5286798" cy="389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54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60242-7274-7BD3-E029-9B46F26FC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9C4AF58B-3C4F-C714-761F-428769639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1A146D8-86B3-5468-8B99-6CDF67EF2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A6602DC-D7E7-7356-C8BF-6C2CA43AA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3C783321-1464-809D-E271-F273EFD33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0" name="Rectangle 25">
              <a:extLst>
                <a:ext uri="{FF2B5EF4-FFF2-40B4-BE49-F238E27FC236}">
                  <a16:creationId xmlns:a16="http://schemas.microsoft.com/office/drawing/2014/main" id="{5267CA91-6C19-F954-A32B-285640210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B66738A8-37A9-378F-AE07-C1D79CCCB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2" name="Rectangle 27">
              <a:extLst>
                <a:ext uri="{FF2B5EF4-FFF2-40B4-BE49-F238E27FC236}">
                  <a16:creationId xmlns:a16="http://schemas.microsoft.com/office/drawing/2014/main" id="{0F8D6508-0B9E-C091-24F5-6E92B6D19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3" name="Rectangle 28">
              <a:extLst>
                <a:ext uri="{FF2B5EF4-FFF2-40B4-BE49-F238E27FC236}">
                  <a16:creationId xmlns:a16="http://schemas.microsoft.com/office/drawing/2014/main" id="{3FA88D79-BC7A-08CD-6601-447247B66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4" name="Rectangle 29">
              <a:extLst>
                <a:ext uri="{FF2B5EF4-FFF2-40B4-BE49-F238E27FC236}">
                  <a16:creationId xmlns:a16="http://schemas.microsoft.com/office/drawing/2014/main" id="{7EC3E07B-84A6-1527-5D17-8B3389B4F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AE7E4F59-63E0-6698-130F-ADB21B305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9F6BDEDD-2A27-4061-87AD-0D25708CA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9ADF3BCF-EE2C-55AA-6102-01A9B5A3B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AC12DDE-B2B0-CA5C-4492-E840FA1D6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15F0C8C-7050-4943-7C89-3E943948B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23">
              <a:extLst>
                <a:ext uri="{FF2B5EF4-FFF2-40B4-BE49-F238E27FC236}">
                  <a16:creationId xmlns:a16="http://schemas.microsoft.com/office/drawing/2014/main" id="{AEC3B4E6-8D55-2DC1-B534-D9813F6FE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9B455517-35E3-0EF4-63F1-0198E6A41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AC504860-9CFC-2687-9456-3D6417A65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5" name="Rectangle 27">
              <a:extLst>
                <a:ext uri="{FF2B5EF4-FFF2-40B4-BE49-F238E27FC236}">
                  <a16:creationId xmlns:a16="http://schemas.microsoft.com/office/drawing/2014/main" id="{61140CDB-6CF3-4430-EEBF-59B59A3AC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6" name="Rectangle 28">
              <a:extLst>
                <a:ext uri="{FF2B5EF4-FFF2-40B4-BE49-F238E27FC236}">
                  <a16:creationId xmlns:a16="http://schemas.microsoft.com/office/drawing/2014/main" id="{79BE042E-D860-C0EF-C184-BCF4FB12C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7" name="Rectangle 29">
              <a:extLst>
                <a:ext uri="{FF2B5EF4-FFF2-40B4-BE49-F238E27FC236}">
                  <a16:creationId xmlns:a16="http://schemas.microsoft.com/office/drawing/2014/main" id="{835CD91F-E293-6FA9-CC11-76B9FA79C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D5502909-770D-CAA6-1059-43696DDA26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CABE6C79-4A3A-05E9-F5A7-EF8393B16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38CFCAF6-39C9-DCE9-19A3-FD8238464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8FEB83A-ABE5-CA11-FE1D-E819E2EE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bo 5">
            <a:extLst>
              <a:ext uri="{FF2B5EF4-FFF2-40B4-BE49-F238E27FC236}">
                <a16:creationId xmlns:a16="http://schemas.microsoft.com/office/drawing/2014/main" id="{149BFB49-536C-6B46-902C-F9DAC043C259}"/>
              </a:ext>
            </a:extLst>
          </p:cNvPr>
          <p:cNvSpPr/>
          <p:nvPr/>
        </p:nvSpPr>
        <p:spPr>
          <a:xfrm rot="5400000">
            <a:off x="5210092" y="2814437"/>
            <a:ext cx="3988675" cy="1008993"/>
          </a:xfrm>
          <a:prstGeom prst="cube">
            <a:avLst>
              <a:gd name="adj" fmla="val 363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" name="Cubo 4">
            <a:extLst>
              <a:ext uri="{FF2B5EF4-FFF2-40B4-BE49-F238E27FC236}">
                <a16:creationId xmlns:a16="http://schemas.microsoft.com/office/drawing/2014/main" id="{9577DFEC-CDE9-5261-4015-45BDBFC33BB9}"/>
              </a:ext>
            </a:extLst>
          </p:cNvPr>
          <p:cNvSpPr/>
          <p:nvPr/>
        </p:nvSpPr>
        <p:spPr>
          <a:xfrm>
            <a:off x="7336988" y="2112247"/>
            <a:ext cx="3988675" cy="1008993"/>
          </a:xfrm>
          <a:prstGeom prst="cube">
            <a:avLst>
              <a:gd name="adj" fmla="val 363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EDD888-0ECD-CEF1-8A40-565CB587AE1B}"/>
              </a:ext>
            </a:extLst>
          </p:cNvPr>
          <p:cNvSpPr txBox="1"/>
          <p:nvPr/>
        </p:nvSpPr>
        <p:spPr>
          <a:xfrm>
            <a:off x="2107551" y="699938"/>
            <a:ext cx="7699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NUMERO DE VARILLAS ENCONTRADOS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15D6789-FC40-A603-A10D-9E95FCFD740A}"/>
              </a:ext>
            </a:extLst>
          </p:cNvPr>
          <p:cNvSpPr txBox="1"/>
          <p:nvPr/>
        </p:nvSpPr>
        <p:spPr>
          <a:xfrm>
            <a:off x="10539111" y="2004636"/>
            <a:ext cx="708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62C90F-D21C-6CD2-C3CE-83EC1E37613D}"/>
              </a:ext>
            </a:extLst>
          </p:cNvPr>
          <p:cNvSpPr txBox="1"/>
          <p:nvPr/>
        </p:nvSpPr>
        <p:spPr>
          <a:xfrm>
            <a:off x="10254035" y="2567940"/>
            <a:ext cx="708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D8A29F-7577-2652-0405-D8FD4F892D91}"/>
              </a:ext>
            </a:extLst>
          </p:cNvPr>
          <p:cNvSpPr/>
          <p:nvPr/>
        </p:nvSpPr>
        <p:spPr>
          <a:xfrm>
            <a:off x="1903336" y="1674935"/>
            <a:ext cx="3094892" cy="36153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A88AB6E-D673-CA2E-9AB7-DC704B6AEB3F}"/>
              </a:ext>
            </a:extLst>
          </p:cNvPr>
          <p:cNvSpPr/>
          <p:nvPr/>
        </p:nvSpPr>
        <p:spPr>
          <a:xfrm>
            <a:off x="2820973" y="1997071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1796445-5850-1373-7295-677CBB23FBEF}"/>
              </a:ext>
            </a:extLst>
          </p:cNvPr>
          <p:cNvSpPr/>
          <p:nvPr/>
        </p:nvSpPr>
        <p:spPr>
          <a:xfrm>
            <a:off x="2199650" y="1997071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1DDE646-AFE6-96C7-7A15-5AAE183E6101}"/>
              </a:ext>
            </a:extLst>
          </p:cNvPr>
          <p:cNvSpPr/>
          <p:nvPr/>
        </p:nvSpPr>
        <p:spPr>
          <a:xfrm>
            <a:off x="3543839" y="1997071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906A842-E773-9C93-B7B2-4443158D19AF}"/>
              </a:ext>
            </a:extLst>
          </p:cNvPr>
          <p:cNvSpPr/>
          <p:nvPr/>
        </p:nvSpPr>
        <p:spPr>
          <a:xfrm>
            <a:off x="4347317" y="1997071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426B1FA-9BB5-CFBD-0756-AC75245BD928}"/>
              </a:ext>
            </a:extLst>
          </p:cNvPr>
          <p:cNvSpPr/>
          <p:nvPr/>
        </p:nvSpPr>
        <p:spPr>
          <a:xfrm>
            <a:off x="2199650" y="4681655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4163339-82D0-F5B5-E3F7-DADBE4C48E5F}"/>
              </a:ext>
            </a:extLst>
          </p:cNvPr>
          <p:cNvSpPr/>
          <p:nvPr/>
        </p:nvSpPr>
        <p:spPr>
          <a:xfrm>
            <a:off x="3273483" y="4681655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F104F7A-0524-09C9-1FE3-853AAF999255}"/>
              </a:ext>
            </a:extLst>
          </p:cNvPr>
          <p:cNvSpPr/>
          <p:nvPr/>
        </p:nvSpPr>
        <p:spPr>
          <a:xfrm>
            <a:off x="4347317" y="4681655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120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1C2829B-69AA-4A12-AE29-CF62875BEE0C}"/>
              </a:ext>
            </a:extLst>
          </p:cNvPr>
          <p:cNvSpPr txBox="1"/>
          <p:nvPr/>
        </p:nvSpPr>
        <p:spPr>
          <a:xfrm>
            <a:off x="1610751" y="499403"/>
            <a:ext cx="82858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 30  cm; h=35 cm, </a:t>
            </a:r>
          </a:p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Voy a analizarle si resiste la cargas que quiero.</a:t>
            </a:r>
          </a:p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(-)= </a:t>
            </a:r>
            <a:r>
              <a:rPr lang="es-ES" sz="2400" dirty="0"/>
              <a:t>4</a:t>
            </a: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𝜙14mm(superior)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E81B2EF-FF99-4640-897C-0C3029628057}"/>
              </a:ext>
            </a:extLst>
          </p:cNvPr>
          <p:cNvSpPr/>
          <p:nvPr/>
        </p:nvSpPr>
        <p:spPr>
          <a:xfrm>
            <a:off x="4206239" y="1856936"/>
            <a:ext cx="3094892" cy="36153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C98E7DF-1CBA-47AA-B398-119F9184EFC0}"/>
              </a:ext>
            </a:extLst>
          </p:cNvPr>
          <p:cNvSpPr/>
          <p:nvPr/>
        </p:nvSpPr>
        <p:spPr>
          <a:xfrm>
            <a:off x="5123876" y="2179072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96B8809-BF05-4E52-A994-94FD62B29B17}"/>
              </a:ext>
            </a:extLst>
          </p:cNvPr>
          <p:cNvSpPr/>
          <p:nvPr/>
        </p:nvSpPr>
        <p:spPr>
          <a:xfrm>
            <a:off x="4502553" y="2179072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FACABB4-68DC-4DA0-A9CC-6F2E1374B5C3}"/>
              </a:ext>
            </a:extLst>
          </p:cNvPr>
          <p:cNvSpPr/>
          <p:nvPr/>
        </p:nvSpPr>
        <p:spPr>
          <a:xfrm>
            <a:off x="5846742" y="2179072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9041444-206A-4758-A001-C84D0111E351}"/>
              </a:ext>
            </a:extLst>
          </p:cNvPr>
          <p:cNvSpPr/>
          <p:nvPr/>
        </p:nvSpPr>
        <p:spPr>
          <a:xfrm>
            <a:off x="6650220" y="2179072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8EEFBDE-1AC4-4873-84BC-7B83A77FFEE7}"/>
              </a:ext>
            </a:extLst>
          </p:cNvPr>
          <p:cNvSpPr txBox="1"/>
          <p:nvPr/>
        </p:nvSpPr>
        <p:spPr>
          <a:xfrm>
            <a:off x="223295" y="2052411"/>
            <a:ext cx="3752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 esto ya puedo </a:t>
            </a:r>
          </a:p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sacar el área de acero</a:t>
            </a:r>
            <a:endParaRPr 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52546CB-4E53-4195-9150-18F47237B1FF}"/>
                  </a:ext>
                </a:extLst>
              </p:cNvPr>
              <p:cNvSpPr txBox="1"/>
              <p:nvPr/>
            </p:nvSpPr>
            <p:spPr>
              <a:xfrm>
                <a:off x="385073" y="3060193"/>
                <a:ext cx="375227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C" sz="2000" b="1" i="1" smtClean="0"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s-EC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C" sz="2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C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C" sz="2000" b="1" i="0">
                          <a:latin typeface="Cambria Math" panose="02040503050406030204" pitchFamily="18" charset="0"/>
                        </a:rPr>
                        <m:t>𝟎𝟎𝟕𝟖𝟓</m:t>
                      </m:r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𝟏𝟒</m:t>
                      </m:r>
                      <m:r>
                        <m:rPr>
                          <m:lit/>
                        </m:rPr>
                        <a:rPr lang="es-EC" sz="2000" b="1" i="0"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s-EC" sz="2000" b="1" i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MX" sz="2000" b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sz="2000" b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𝟏𝟓𝐜𝐦𝟐</m:t>
                      </m:r>
                    </m:oMath>
                  </m:oMathPara>
                </a14:m>
                <a:endParaRPr lang="es-MX" sz="2000" b="1" dirty="0"/>
              </a:p>
              <a:p>
                <a:r>
                  <a:rPr lang="es-E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(superior)</a:t>
                </a:r>
                <a:endParaRPr lang="es-EC" sz="20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52546CB-4E53-4195-9150-18F47237B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3" y="3060193"/>
                <a:ext cx="3752278" cy="1015663"/>
              </a:xfrm>
              <a:prstGeom prst="rect">
                <a:avLst/>
              </a:prstGeom>
              <a:blipFill>
                <a:blip r:embed="rId2"/>
                <a:stretch>
                  <a:fillRect b="-8982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ipse 13">
            <a:extLst>
              <a:ext uri="{FF2B5EF4-FFF2-40B4-BE49-F238E27FC236}">
                <a16:creationId xmlns:a16="http://schemas.microsoft.com/office/drawing/2014/main" id="{9E3C23A2-B34E-4CCD-88F5-AE4FBFAEDFD5}"/>
              </a:ext>
            </a:extLst>
          </p:cNvPr>
          <p:cNvSpPr/>
          <p:nvPr/>
        </p:nvSpPr>
        <p:spPr>
          <a:xfrm>
            <a:off x="4502553" y="4863656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429E5BC-F89C-44B8-971E-D7DDD5DCAF58}"/>
              </a:ext>
            </a:extLst>
          </p:cNvPr>
          <p:cNvSpPr/>
          <p:nvPr/>
        </p:nvSpPr>
        <p:spPr>
          <a:xfrm>
            <a:off x="5576386" y="4863656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AE3C9F0-211B-4C9A-A8AA-FC9436B1EC10}"/>
              </a:ext>
            </a:extLst>
          </p:cNvPr>
          <p:cNvSpPr/>
          <p:nvPr/>
        </p:nvSpPr>
        <p:spPr>
          <a:xfrm>
            <a:off x="6650220" y="4863656"/>
            <a:ext cx="390657" cy="363664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BA4F397-BFB5-489B-BE18-A8B1A4C4E72A}"/>
                  </a:ext>
                </a:extLst>
              </p:cNvPr>
              <p:cNvSpPr txBox="1"/>
              <p:nvPr/>
            </p:nvSpPr>
            <p:spPr>
              <a:xfrm>
                <a:off x="7630270" y="2921168"/>
                <a:ext cx="4561729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C" sz="2000" b="1" i="1" smtClean="0"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s-EC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C" sz="2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C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C" sz="2000" b="1" i="0">
                          <a:latin typeface="Cambria Math" panose="02040503050406030204" pitchFamily="18" charset="0"/>
                        </a:rPr>
                        <m:t>𝟎𝟎𝟕𝟖𝟓</m:t>
                      </m:r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m:rPr>
                          <m:lit/>
                        </m:rPr>
                        <a:rPr lang="es-EC" sz="2000" b="1" i="0"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s-EC" sz="2000" b="1" i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MX" sz="2000" b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sz="2000" b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MX" sz="2000" b="1" i="0" smtClean="0">
                          <a:latin typeface="Cambria Math" panose="02040503050406030204" pitchFamily="18" charset="0"/>
                        </a:rPr>
                        <m:t>𝟑𝟗𝐜𝐦𝟐</m:t>
                      </m:r>
                    </m:oMath>
                  </m:oMathPara>
                </a14:m>
                <a:endParaRPr lang="es-MX" sz="2000" b="1" dirty="0"/>
              </a:p>
              <a:p>
                <a:r>
                  <a:rPr lang="es-E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(inferior)</a:t>
                </a:r>
                <a:endParaRPr lang="es-EC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BA4F397-BFB5-489B-BE18-A8B1A4C4E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270" y="2921168"/>
                <a:ext cx="4561729" cy="1015663"/>
              </a:xfrm>
              <a:prstGeom prst="rect">
                <a:avLst/>
              </a:prstGeom>
              <a:blipFill>
                <a:blip r:embed="rId4"/>
                <a:stretch>
                  <a:fillRect b="-8982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071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B98A2BC-F420-4709-B51A-5005B35C8978}"/>
              </a:ext>
            </a:extLst>
          </p:cNvPr>
          <p:cNvSpPr txBox="1"/>
          <p:nvPr/>
        </p:nvSpPr>
        <p:spPr>
          <a:xfrm>
            <a:off x="2171130" y="2424961"/>
            <a:ext cx="223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Estribos, </a:t>
            </a:r>
            <a:endParaRPr lang="es-EC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ACF898C-6398-4A99-9013-A189D0B6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951" y="395546"/>
            <a:ext cx="5708172" cy="470516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C921E10-1521-460D-AA3F-E932F0A58D91}"/>
              </a:ext>
            </a:extLst>
          </p:cNvPr>
          <p:cNvSpPr txBox="1"/>
          <p:nvPr/>
        </p:nvSpPr>
        <p:spPr>
          <a:xfrm>
            <a:off x="1876577" y="3258658"/>
            <a:ext cx="2813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𝜙 8 mm,  cada 15 cm</a:t>
            </a:r>
            <a:endParaRPr lang="es-EC" b="1" dirty="0"/>
          </a:p>
        </p:txBody>
      </p:sp>
    </p:spTree>
    <p:extLst>
      <p:ext uri="{BB962C8B-B14F-4D97-AF65-F5344CB8AC3E}">
        <p14:creationId xmlns:p14="http://schemas.microsoft.com/office/powerpoint/2010/main" val="3415436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878BFF-7BDB-446D-96B7-C8FF54787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707" y="165220"/>
            <a:ext cx="3243510" cy="432237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B98A2BC-F420-4709-B51A-5005B35C8978}"/>
              </a:ext>
            </a:extLst>
          </p:cNvPr>
          <p:cNvSpPr txBox="1"/>
          <p:nvPr/>
        </p:nvSpPr>
        <p:spPr>
          <a:xfrm>
            <a:off x="841939" y="536223"/>
            <a:ext cx="36349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F`c=180 kg/cm2</a:t>
            </a:r>
          </a:p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Fy=4200 kg/cm2</a:t>
            </a:r>
            <a:endParaRPr lang="es-EC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C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ACF898C-6398-4A99-9013-A189D0B69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527" y="205479"/>
            <a:ext cx="2813500" cy="23191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A754E12-4457-41E5-B96D-1997FA0CE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43" y="2740223"/>
            <a:ext cx="6958029" cy="391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349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4318</TotalTime>
  <Words>762</Words>
  <Application>Microsoft Office PowerPoint</Application>
  <PresentationFormat>Panorámica</PresentationFormat>
  <Paragraphs>155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Arial</vt:lpstr>
      <vt:lpstr>Cambria Math</vt:lpstr>
      <vt:lpstr>Times New Roman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 PC</dc:creator>
  <cp:lastModifiedBy>Daniela Marcillo</cp:lastModifiedBy>
  <cp:revision>1139</cp:revision>
  <dcterms:created xsi:type="dcterms:W3CDTF">2021-04-12T14:40:07Z</dcterms:created>
  <dcterms:modified xsi:type="dcterms:W3CDTF">2025-05-18T03:29:56Z</dcterms:modified>
</cp:coreProperties>
</file>